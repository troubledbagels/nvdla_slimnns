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Ubuntu Mon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UbuntuMono-bold.fntdata"/><Relationship Id="rId11" Type="http://schemas.openxmlformats.org/officeDocument/2006/relationships/slide" Target="slides/slide6.xml"/><Relationship Id="rId22" Type="http://schemas.openxmlformats.org/officeDocument/2006/relationships/font" Target="fonts/UbuntuMono-boldItalic.fntdata"/><Relationship Id="rId10" Type="http://schemas.openxmlformats.org/officeDocument/2006/relationships/slide" Target="slides/slide5.xml"/><Relationship Id="rId21" Type="http://schemas.openxmlformats.org/officeDocument/2006/relationships/font" Target="fonts/UbuntuMono-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UbuntuMono-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Intro</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47808f0df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47808f0df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This is the end-to-end flow</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You start with defining a PyTorch network class, train it and test it.</a:t>
            </a:r>
            <a:endParaRPr/>
          </a:p>
          <a:p>
            <a:pPr indent="0" lvl="0" marL="0" rtl="0" algn="l">
              <a:spcBef>
                <a:spcPts val="0"/>
              </a:spcBef>
              <a:spcAft>
                <a:spcPts val="0"/>
              </a:spcAft>
              <a:buNone/>
            </a:pPr>
            <a:r>
              <a:rPr lang="en-GB"/>
              <a:t>Then export to the ONNX format</a:t>
            </a:r>
            <a:endParaRPr/>
          </a:p>
          <a:p>
            <a:pPr indent="0" lvl="0" marL="0" rtl="0" algn="l">
              <a:spcBef>
                <a:spcPts val="0"/>
              </a:spcBef>
              <a:spcAft>
                <a:spcPts val="0"/>
              </a:spcAft>
              <a:buNone/>
            </a:pPr>
            <a:r>
              <a:rPr lang="en-GB"/>
              <a:t>Next use ONNC to compile the ONNX files into the NVDLA loadable files</a:t>
            </a:r>
            <a:endParaRPr/>
          </a:p>
          <a:p>
            <a:pPr indent="0" lvl="0" marL="0" rtl="0" algn="l">
              <a:spcBef>
                <a:spcPts val="0"/>
              </a:spcBef>
              <a:spcAft>
                <a:spcPts val="0"/>
              </a:spcAft>
              <a:buNone/>
            </a:pPr>
            <a:r>
              <a:rPr lang="en-GB"/>
              <a:t>Then the runtime needs to be defined - using a version of the SW directory</a:t>
            </a:r>
            <a:endParaRPr/>
          </a:p>
          <a:p>
            <a:pPr indent="0" lvl="0" marL="0" rtl="0" algn="l">
              <a:spcBef>
                <a:spcPts val="0"/>
              </a:spcBef>
              <a:spcAft>
                <a:spcPts val="0"/>
              </a:spcAft>
              <a:buNone/>
            </a:pPr>
            <a:r>
              <a:rPr lang="en-GB"/>
              <a:t>Finally, the network is executed atop the NVDLA VP platform</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[LIVE DEMO]</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final inference takes a reasonably large amount of time, so I will demo the code now and explain each step afterwards. I am going to take a single model: alex_snn_2_part.pth, and show it running atop the NVDLA</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PyTorch model is not relevant to the workflow of the project so will be covered later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First off, we must export to ONNX, the dynamic network is exported into partitions as a dynamic network is currently unsupported by the NVDLA (due to KMD issues)</a:t>
            </a:r>
            <a:endParaRPr/>
          </a:p>
          <a:p>
            <a:pPr indent="0" lvl="0" marL="0" rtl="0" algn="l">
              <a:spcBef>
                <a:spcPts val="0"/>
              </a:spcBef>
              <a:spcAft>
                <a:spcPts val="0"/>
              </a:spcAft>
              <a:buNone/>
            </a:pPr>
            <a:r>
              <a:rPr lang="en-GB"/>
              <a:t>python3 output_each_partition.py -l</a:t>
            </a:r>
            <a:endParaRPr/>
          </a:p>
          <a:p>
            <a:pPr indent="0" lvl="0" marL="0" rtl="0" algn="l">
              <a:spcBef>
                <a:spcPts val="0"/>
              </a:spcBef>
              <a:spcAft>
                <a:spcPts val="0"/>
              </a:spcAft>
              <a:buClr>
                <a:schemeClr val="dk1"/>
              </a:buClr>
              <a:buSzPts val="1100"/>
              <a:buFont typeface="Arial"/>
              <a:buNone/>
            </a:pPr>
            <a:r>
              <a:rPr lang="en-GB">
                <a:solidFill>
                  <a:schemeClr val="dk1"/>
                </a:solidFill>
              </a:rPr>
              <a:t>python3 output_each_partition.py alex_snn_2_part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Next we use a docker to access the ONNC compiler, to compile from ONNX to NVDLA</a:t>
            </a:r>
            <a:endParaRPr/>
          </a:p>
          <a:p>
            <a:pPr indent="0" lvl="0" marL="0" rtl="0" algn="l">
              <a:spcBef>
                <a:spcPts val="0"/>
              </a:spcBef>
              <a:spcAft>
                <a:spcPts val="0"/>
              </a:spcAft>
              <a:buNone/>
            </a:pPr>
            <a:r>
              <a:rPr lang="en-GB"/>
              <a:t>docker run -it -v /home:/home onnc/onnc-community /bin/bash</a:t>
            </a:r>
            <a:endParaRPr/>
          </a:p>
          <a:p>
            <a:pPr indent="0" lvl="0" marL="0" rtl="0" algn="l">
              <a:spcBef>
                <a:spcPts val="0"/>
              </a:spcBef>
              <a:spcAft>
                <a:spcPts val="0"/>
              </a:spcAft>
              <a:buClr>
                <a:schemeClr val="dk1"/>
              </a:buClr>
              <a:buSzPts val="1100"/>
              <a:buFont typeface="Arial"/>
              <a:buNone/>
            </a:pPr>
            <a:r>
              <a:rPr lang="en-GB"/>
              <a:t>ls /home/benjamin/Desktop/NVDLA_SlimNNs/Compilation/partitioned_networks/onnx/</a:t>
            </a:r>
            <a:endParaRPr/>
          </a:p>
          <a:p>
            <a:pPr indent="0" lvl="0" marL="0" rtl="0" algn="l">
              <a:spcBef>
                <a:spcPts val="0"/>
              </a:spcBef>
              <a:spcAft>
                <a:spcPts val="0"/>
              </a:spcAft>
              <a:buNone/>
            </a:pPr>
            <a:r>
              <a:rPr lang="en-GB"/>
              <a:t>tools/onnc/onnc -mquadruple nvdla /home/benjamin/Desktop/NVDLA_SlimNNs/Compilation/partitioned_networks/onnx/alex_snn_2_part_part_1.onnx</a:t>
            </a:r>
            <a:endParaRPr/>
          </a:p>
          <a:p>
            <a:pPr indent="0" lvl="0" marL="0" rtl="0" algn="l">
              <a:spcBef>
                <a:spcPts val="0"/>
              </a:spcBef>
              <a:spcAft>
                <a:spcPts val="0"/>
              </a:spcAft>
              <a:buNone/>
            </a:pPr>
            <a:r>
              <a:rPr lang="en-GB">
                <a:solidFill>
                  <a:schemeClr val="dk1"/>
                </a:solidFill>
              </a:rPr>
              <a:t>This generates the out.nvdla file seen here (do an ls)</a:t>
            </a:r>
            <a:endParaRPr>
              <a:solidFill>
                <a:schemeClr val="dk1"/>
              </a:solidFill>
            </a:endParaRPr>
          </a:p>
          <a:p>
            <a:pPr indent="0" lvl="0" marL="0" rtl="0" algn="l">
              <a:spcBef>
                <a:spcPts val="0"/>
              </a:spcBef>
              <a:spcAft>
                <a:spcPts val="0"/>
              </a:spcAft>
              <a:buNone/>
            </a:pPr>
            <a:r>
              <a:rPr lang="en-GB">
                <a:solidFill>
                  <a:schemeClr val="dk1"/>
                </a:solidFill>
              </a:rPr>
              <a:t>I compiled both parts of the network earlier and copied them out of the docker (as this is a long, annoying process)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Next, is to show the compilation of a runtime, using the ubuntu 16.04 docker</a:t>
            </a:r>
            <a:endParaRPr>
              <a:solidFill>
                <a:schemeClr val="dk1"/>
              </a:solidFill>
            </a:endParaRPr>
          </a:p>
          <a:p>
            <a:pPr indent="0" lvl="0" marL="0" rtl="0" algn="l">
              <a:spcBef>
                <a:spcPts val="0"/>
              </a:spcBef>
              <a:spcAft>
                <a:spcPts val="0"/>
              </a:spcAft>
              <a:buNone/>
            </a:pPr>
            <a:r>
              <a:rPr lang="en-GB" sz="1000">
                <a:solidFill>
                  <a:srgbClr val="1F2328"/>
                </a:solidFill>
                <a:highlight>
                  <a:srgbClr val="F6F8FA"/>
                </a:highlight>
                <a:latin typeface="Consolas"/>
                <a:ea typeface="Consolas"/>
                <a:cs typeface="Consolas"/>
                <a:sym typeface="Consolas"/>
              </a:rPr>
              <a:t>docker run -it -v /home:/home ubuntu:16.04</a:t>
            </a:r>
            <a:endParaRPr sz="1000">
              <a:solidFill>
                <a:srgbClr val="1F2328"/>
              </a:solidFill>
              <a:highlight>
                <a:srgbClr val="F6F8FA"/>
              </a:highlight>
              <a:latin typeface="Consolas"/>
              <a:ea typeface="Consolas"/>
              <a:cs typeface="Consolas"/>
              <a:sym typeface="Consolas"/>
            </a:endParaRPr>
          </a:p>
          <a:p>
            <a:pPr indent="0" lvl="0" marL="0" rtl="0" algn="l">
              <a:spcBef>
                <a:spcPts val="0"/>
              </a:spcBef>
              <a:spcAft>
                <a:spcPts val="0"/>
              </a:spcAft>
              <a:buNone/>
            </a:pPr>
            <a:r>
              <a:rPr lang="en-GB" sz="1000">
                <a:solidFill>
                  <a:srgbClr val="1F2328"/>
                </a:solidFill>
                <a:highlight>
                  <a:srgbClr val="F6F8FA"/>
                </a:highlight>
                <a:latin typeface="Consolas"/>
                <a:ea typeface="Consolas"/>
                <a:cs typeface="Consolas"/>
                <a:sym typeface="Consolas"/>
              </a:rPr>
              <a:t>apt-get update</a:t>
            </a:r>
            <a:endParaRPr sz="1000">
              <a:solidFill>
                <a:srgbClr val="1F2328"/>
              </a:solidFill>
              <a:highlight>
                <a:srgbClr val="F6F8FA"/>
              </a:highlight>
              <a:latin typeface="Consolas"/>
              <a:ea typeface="Consolas"/>
              <a:cs typeface="Consolas"/>
              <a:sym typeface="Consolas"/>
            </a:endParaRPr>
          </a:p>
          <a:p>
            <a:pPr indent="0" lvl="0" marL="0" rtl="0" algn="l">
              <a:lnSpc>
                <a:spcPct val="145000"/>
              </a:lnSpc>
              <a:spcBef>
                <a:spcPts val="0"/>
              </a:spcBef>
              <a:spcAft>
                <a:spcPts val="0"/>
              </a:spcAft>
              <a:buNone/>
            </a:pPr>
            <a:r>
              <a:rPr lang="en-GB" sz="1000">
                <a:solidFill>
                  <a:srgbClr val="1F2328"/>
                </a:solidFill>
                <a:highlight>
                  <a:srgbClr val="F6F8FA"/>
                </a:highlight>
                <a:latin typeface="Consolas"/>
                <a:ea typeface="Consolas"/>
                <a:cs typeface="Consolas"/>
                <a:sym typeface="Consolas"/>
              </a:rPr>
              <a:t>apt-get install gcc-aarch64-linux-gnu g++-aarch64-linux-gnu make -y</a:t>
            </a:r>
            <a:br>
              <a:rPr lang="en-GB" sz="1000">
                <a:solidFill>
                  <a:srgbClr val="1F2328"/>
                </a:solidFill>
                <a:highlight>
                  <a:srgbClr val="F6F8FA"/>
                </a:highlight>
                <a:latin typeface="Consolas"/>
                <a:ea typeface="Consolas"/>
                <a:cs typeface="Consolas"/>
                <a:sym typeface="Consolas"/>
              </a:rPr>
            </a:br>
            <a:r>
              <a:rPr lang="en-GB" sz="1000">
                <a:solidFill>
                  <a:srgbClr val="1F2328"/>
                </a:solidFill>
                <a:highlight>
                  <a:srgbClr val="F6F8FA"/>
                </a:highlight>
                <a:latin typeface="Consolas"/>
                <a:ea typeface="Consolas"/>
                <a:cs typeface="Consolas"/>
                <a:sym typeface="Consolas"/>
              </a:rPr>
              <a:t>cd /home/benjamin/Desktop/NVDLA_SlimNNs/Runtime</a:t>
            </a:r>
            <a:endParaRPr sz="1000">
              <a:solidFill>
                <a:srgbClr val="1F2328"/>
              </a:solidFill>
              <a:highlight>
                <a:srgbClr val="F6F8FA"/>
              </a:highlight>
              <a:latin typeface="Consolas"/>
              <a:ea typeface="Consolas"/>
              <a:cs typeface="Consolas"/>
              <a:sym typeface="Consolas"/>
            </a:endParaRPr>
          </a:p>
          <a:p>
            <a:pPr indent="0" lvl="0" marL="0" rtl="0" algn="l">
              <a:lnSpc>
                <a:spcPct val="145000"/>
              </a:lnSpc>
              <a:spcBef>
                <a:spcPts val="0"/>
              </a:spcBef>
              <a:spcAft>
                <a:spcPts val="0"/>
              </a:spcAft>
              <a:buNone/>
            </a:pPr>
            <a:r>
              <a:rPr lang="en-GB" sz="1000">
                <a:solidFill>
                  <a:srgbClr val="1F2328"/>
                </a:solidFill>
                <a:highlight>
                  <a:srgbClr val="F6F8FA"/>
                </a:highlight>
                <a:latin typeface="Consolas"/>
                <a:ea typeface="Consolas"/>
                <a:cs typeface="Consolas"/>
                <a:sym typeface="Consolas"/>
              </a:rPr>
              <a:t>./compile_and_transfer.sh single_runtime</a:t>
            </a:r>
            <a:endParaRPr sz="1000">
              <a:solidFill>
                <a:srgbClr val="1F2328"/>
              </a:solidFill>
              <a:highlight>
                <a:srgbClr val="F6F8FA"/>
              </a:highlight>
              <a:latin typeface="Consolas"/>
              <a:ea typeface="Consolas"/>
              <a:cs typeface="Consolas"/>
              <a:sym typeface="Consolas"/>
            </a:endParaRPr>
          </a:p>
          <a:p>
            <a:pPr indent="0" lvl="0" marL="0" rtl="0" algn="l">
              <a:lnSpc>
                <a:spcPct val="145000"/>
              </a:lnSpc>
              <a:spcBef>
                <a:spcPts val="0"/>
              </a:spcBef>
              <a:spcAft>
                <a:spcPts val="0"/>
              </a:spcAft>
              <a:buNone/>
            </a:pPr>
            <a:r>
              <a:rPr lang="en-GB" sz="1000">
                <a:solidFill>
                  <a:srgbClr val="1F2328"/>
                </a:solidFill>
                <a:highlight>
                  <a:srgbClr val="F6F8FA"/>
                </a:highlight>
                <a:latin typeface="Consolas"/>
                <a:ea typeface="Consolas"/>
                <a:cs typeface="Consolas"/>
                <a:sym typeface="Consolas"/>
              </a:rPr>
              <a:t>ls runtime_outputs</a:t>
            </a:r>
            <a:endParaRPr sz="1000">
              <a:solidFill>
                <a:srgbClr val="1F2328"/>
              </a:solidFill>
              <a:highlight>
                <a:srgbClr val="F6F8FA"/>
              </a:highlight>
              <a:latin typeface="Consolas"/>
              <a:ea typeface="Consolas"/>
              <a:cs typeface="Consolas"/>
              <a:sym typeface="Consolas"/>
            </a:endParaRPr>
          </a:p>
          <a:p>
            <a:pPr indent="0" lvl="0" marL="0" rtl="0" algn="l">
              <a:lnSpc>
                <a:spcPct val="145000"/>
              </a:lnSpc>
              <a:spcBef>
                <a:spcPts val="0"/>
              </a:spcBef>
              <a:spcAft>
                <a:spcPts val="0"/>
              </a:spcAft>
              <a:buClr>
                <a:schemeClr val="dk1"/>
              </a:buClr>
              <a:buSzPts val="1100"/>
              <a:buFont typeface="Arial"/>
              <a:buNone/>
            </a:pPr>
            <a:r>
              <a:t/>
            </a:r>
            <a:endParaRPr>
              <a:solidFill>
                <a:srgbClr val="1F2328"/>
              </a:solidFill>
            </a:endParaRPr>
          </a:p>
          <a:p>
            <a:pPr indent="0" lvl="0" marL="0" rtl="0" algn="l">
              <a:spcBef>
                <a:spcPts val="0"/>
              </a:spcBef>
              <a:spcAft>
                <a:spcPts val="0"/>
              </a:spcAft>
              <a:buNone/>
            </a:pPr>
            <a:r>
              <a:rPr lang="en-GB"/>
              <a:t>Now the final thing to do is to load up the virtual platform and execute the network and the runtimes</a:t>
            </a:r>
            <a:endParaRPr/>
          </a:p>
          <a:p>
            <a:pPr indent="0" lvl="0" marL="0" rtl="0" algn="l">
              <a:spcBef>
                <a:spcPts val="0"/>
              </a:spcBef>
              <a:spcAft>
                <a:spcPts val="0"/>
              </a:spcAft>
              <a:buNone/>
            </a:pPr>
            <a:r>
              <a:rPr lang="en-GB"/>
              <a:t>First let’s start the </a:t>
            </a:r>
            <a:r>
              <a:rPr lang="en-GB"/>
              <a:t>docker and copy the relevant files over</a:t>
            </a:r>
            <a:endParaRPr/>
          </a:p>
          <a:p>
            <a:pPr indent="0" lvl="0" marL="0" rtl="0" algn="l">
              <a:spcBef>
                <a:spcPts val="0"/>
              </a:spcBef>
              <a:spcAft>
                <a:spcPts val="0"/>
              </a:spcAft>
              <a:buNone/>
            </a:pPr>
            <a:r>
              <a:rPr lang="en-GB"/>
              <a:t>docker run -it -v /home:/home onnc/vp</a:t>
            </a:r>
            <a:endParaRPr/>
          </a:p>
          <a:p>
            <a:pPr indent="0" lvl="0" marL="0" rtl="0" algn="l">
              <a:spcBef>
                <a:spcPts val="0"/>
              </a:spcBef>
              <a:spcAft>
                <a:spcPts val="0"/>
              </a:spcAft>
              <a:buNone/>
            </a:pPr>
            <a:r>
              <a:rPr lang="en-GB"/>
              <a:t>cd /usr/local/nvdla</a:t>
            </a:r>
            <a:endParaRPr/>
          </a:p>
          <a:p>
            <a:pPr indent="0" lvl="0" marL="0" rtl="0" algn="l">
              <a:spcBef>
                <a:spcPts val="0"/>
              </a:spcBef>
              <a:spcAft>
                <a:spcPts val="0"/>
              </a:spcAft>
              <a:buNone/>
            </a:pPr>
            <a:r>
              <a:rPr lang="en-GB"/>
              <a:t>cp /home/benjamin/Desktop/NVDLA_SlimNNs/Compilation/nvdla_models/alex_2_part_1.nvdla a2p1.nvdla</a:t>
            </a:r>
            <a:endParaRPr/>
          </a:p>
          <a:p>
            <a:pPr indent="0" lvl="0" marL="0" rtl="0" algn="l">
              <a:spcBef>
                <a:spcPts val="0"/>
              </a:spcBef>
              <a:spcAft>
                <a:spcPts val="0"/>
              </a:spcAft>
              <a:buNone/>
            </a:pPr>
            <a:r>
              <a:rPr lang="en-GB"/>
              <a:t>cp /home/benjamin/Desktop/NVDLA_SlimNNs/Compilation/nvdla_models/alex_2_part_2.nvdla a2p2.nvdla</a:t>
            </a:r>
            <a:endParaRPr/>
          </a:p>
          <a:p>
            <a:pPr indent="0" lvl="0" marL="0" rtl="0" algn="l">
              <a:spcBef>
                <a:spcPts val="0"/>
              </a:spcBef>
              <a:spcAft>
                <a:spcPts val="0"/>
              </a:spcAft>
              <a:buNone/>
            </a:pPr>
            <a:r>
              <a:rPr lang="en-GB"/>
              <a:t>cp /home/benjamin/Desktop/NVDLA_SlimNNs/Runtime/runtime_outputs/single_runtime single_runtime</a:t>
            </a:r>
            <a:endParaRPr/>
          </a:p>
          <a:p>
            <a:pPr indent="0" lvl="0" marL="0" rtl="0" algn="l">
              <a:spcBef>
                <a:spcPts val="0"/>
              </a:spcBef>
              <a:spcAft>
                <a:spcPts val="0"/>
              </a:spcAft>
              <a:buNone/>
            </a:pPr>
            <a:r>
              <a:rPr lang="en-GB"/>
              <a:t>cp /home/benjamin/Desktop/NVDLA_SlimNNs/Runtime/used_images/airplane_0.jpg airplane_0.jpg</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Next, we need to start the virtual platform itself</a:t>
            </a:r>
            <a:endParaRPr/>
          </a:p>
          <a:p>
            <a:pPr indent="0" lvl="0" marL="0" rtl="0" algn="l">
              <a:spcBef>
                <a:spcPts val="0"/>
              </a:spcBef>
              <a:spcAft>
                <a:spcPts val="0"/>
              </a:spcAft>
              <a:buNone/>
            </a:pPr>
            <a:r>
              <a:rPr lang="en-GB"/>
              <a:t>aarch64_toplevel -c aarch64_nvdla.lua</a:t>
            </a:r>
            <a:endParaRPr/>
          </a:p>
          <a:p>
            <a:pPr indent="0" lvl="0" marL="0" rtl="0" algn="l">
              <a:spcBef>
                <a:spcPts val="0"/>
              </a:spcBef>
              <a:spcAft>
                <a:spcPts val="0"/>
              </a:spcAft>
              <a:buNone/>
            </a:pPr>
            <a:r>
              <a:rPr lang="en-GB"/>
              <a:t>mount -t 9p -o trans=virtio r /mnt</a:t>
            </a:r>
            <a:endParaRPr/>
          </a:p>
          <a:p>
            <a:pPr indent="0" lvl="0" marL="0" rtl="0" algn="l">
              <a:spcBef>
                <a:spcPts val="0"/>
              </a:spcBef>
              <a:spcAft>
                <a:spcPts val="0"/>
              </a:spcAft>
              <a:buNone/>
            </a:pPr>
            <a:r>
              <a:rPr lang="en-GB"/>
              <a:t>cd /mnt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sz="1000">
                <a:solidFill>
                  <a:srgbClr val="1F2328"/>
                </a:solidFill>
                <a:highlight>
                  <a:srgbClr val="F6F8FA"/>
                </a:highlight>
                <a:latin typeface="Consolas"/>
                <a:ea typeface="Consolas"/>
                <a:cs typeface="Consolas"/>
                <a:sym typeface="Consolas"/>
              </a:rPr>
              <a:t>./runtime --parts 2 --loadable a2p1.nvdla --loadable a2p2.nvdla --mean 0.4914,0.4822,0.4465 --normalize 0.2470,0.2435,0.2616 --image airplane_0.jpg --rawdump</a:t>
            </a:r>
            <a:endParaRPr sz="1000">
              <a:solidFill>
                <a:srgbClr val="1F2328"/>
              </a:solidFill>
              <a:highlight>
                <a:srgbClr val="F6F8FA"/>
              </a:highlight>
              <a:latin typeface="Consolas"/>
              <a:ea typeface="Consolas"/>
              <a:cs typeface="Consolas"/>
              <a:sym typeface="Consolas"/>
            </a:endParaRPr>
          </a:p>
          <a:p>
            <a:pPr indent="0" lvl="0" marL="0" rtl="0" algn="l">
              <a:spcBef>
                <a:spcPts val="0"/>
              </a:spcBef>
              <a:spcAft>
                <a:spcPts val="0"/>
              </a:spcAft>
              <a:buNone/>
            </a:pPr>
            <a:r>
              <a:t/>
            </a:r>
            <a:endParaRPr sz="1000">
              <a:solidFill>
                <a:srgbClr val="1F2328"/>
              </a:solidFill>
              <a:highlight>
                <a:srgbClr val="F6F8FA"/>
              </a:highlight>
              <a:latin typeface="Consolas"/>
              <a:ea typeface="Consolas"/>
              <a:cs typeface="Consolas"/>
              <a:sym typeface="Consolas"/>
            </a:endParaRPr>
          </a:p>
          <a:p>
            <a:pPr indent="0" lvl="0" marL="0" rtl="0" algn="l">
              <a:spcBef>
                <a:spcPts val="0"/>
              </a:spcBef>
              <a:spcAft>
                <a:spcPts val="0"/>
              </a:spcAft>
              <a:buNone/>
            </a:pPr>
            <a:r>
              <a:rPr lang="en-GB" sz="1000">
                <a:solidFill>
                  <a:srgbClr val="1F2328"/>
                </a:solidFill>
                <a:highlight>
                  <a:srgbClr val="F6F8FA"/>
                </a:highlight>
                <a:latin typeface="Consolas"/>
                <a:ea typeface="Consolas"/>
                <a:cs typeface="Consolas"/>
                <a:sym typeface="Consolas"/>
              </a:rPr>
              <a:t>Now this will take a while to run, so we will check on the output at the end of the explanation</a:t>
            </a:r>
            <a:endParaRPr sz="1000">
              <a:solidFill>
                <a:srgbClr val="1F2328"/>
              </a:solidFill>
              <a:highlight>
                <a:srgbClr val="F6F8FA"/>
              </a:highlight>
              <a:latin typeface="Consolas"/>
              <a:ea typeface="Consolas"/>
              <a:cs typeface="Consolas"/>
              <a:sym typeface="Consolas"/>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47808f0df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47808f0df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Slimmable neural networks are a relatively simplistic form of Dynamic Neural Network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idea is that the network changes its width based on the current stage of the input. Each width that the network operates at is called a partition. For example, one partition would be just green, the next is green and yellow, then green, yellow and blue, etc.</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Start with the smallest partition, e.g. ¼</a:t>
            </a:r>
            <a:r>
              <a:rPr lang="en-GB"/>
              <a:t> of the original size, and then depending on how confident the network is, it either accepts the output, or it executes again, at a higher width.</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diagram on the right shows a slimmable linear layer, with the colours representing each width it executes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diagram at the bottom shows the flow of the network.</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47808f0df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47808f0df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Two new </a:t>
            </a:r>
            <a:r>
              <a:rPr lang="en-GB"/>
              <a:t>components have been created, adapted versions of the original PyTorch components - 1 for linear, and one for convolution.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solidFill>
                  <a:schemeClr val="dk1"/>
                </a:solidFill>
              </a:rPr>
              <a:t>[SHOW CODE]</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This shows the slimmable convolutional layer. The main parts of note are the in(out)_channels_list variables as well as the slicing.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The class inherits the features of the original PyTorch nn.Conv2d class, and as such, has the same weight structure as the original. The forward method is overloaded, so that a function performs the actual convolution, rather than a class. This allows it to accept any shape of weights and bias, as long as they correspond with the provided input. This allows the slicing of the original weight structure to be used for a successful computation</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GB">
                <a:solidFill>
                  <a:schemeClr val="dk1"/>
                </a:solidFill>
              </a:rPr>
              <a:t>The linear component is similar, but rather than channel, it is based on features (just for terminological consistency)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It uses the same logic, of having a width multiplier list, and taking the index of the current multiplier, using that to slice the weight and bias to the correct size and then using the linear computation function to calculate the output.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[BACK TO SLIDE]</a:t>
            </a:r>
            <a:endParaRPr/>
          </a:p>
          <a:p>
            <a:pPr indent="0" lvl="0" marL="0" rtl="0" algn="l">
              <a:spcBef>
                <a:spcPts val="0"/>
              </a:spcBef>
              <a:spcAft>
                <a:spcPts val="0"/>
              </a:spcAft>
              <a:buNone/>
            </a:pPr>
            <a:r>
              <a:rPr lang="en-GB"/>
              <a:t>The network is based off the AlexNet (originally designed for ImageNet) but adapted for CIFAR10</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main difference apart from the slimmable components is the two forward-pass based model. One of them for testing which automatically increases the width, and one that has no slimmable logic at all.</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[SHOW CODE]</a:t>
            </a:r>
            <a:endParaRPr/>
          </a:p>
          <a:p>
            <a:pPr indent="0" lvl="0" marL="0" rtl="0" algn="l">
              <a:spcBef>
                <a:spcPts val="0"/>
              </a:spcBef>
              <a:spcAft>
                <a:spcPts val="0"/>
              </a:spcAft>
              <a:buNone/>
            </a:pPr>
            <a:r>
              <a:rPr lang="en-GB">
                <a:solidFill>
                  <a:schemeClr val="dk1"/>
                </a:solidFill>
              </a:rPr>
              <a:t>Slide showing the two forward methods of the AlexSNN class. The leftone is used for testing, and the right for training. As you can see, there is no confidence calculation on the right hand side, as here you want to train each partition as if it were simply a regular CNN.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Add some bit about definition of the network</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GB"/>
              <a:t>[BACK TO SLIDE]</a:t>
            </a:r>
            <a:endParaRPr/>
          </a:p>
          <a:p>
            <a:pPr indent="0" lvl="0" marL="0" rtl="0" algn="l">
              <a:spcBef>
                <a:spcPts val="0"/>
              </a:spcBef>
              <a:spcAft>
                <a:spcPts val="0"/>
              </a:spcAft>
              <a:buNone/>
            </a:pPr>
            <a:r>
              <a:rPr lang="en-GB"/>
              <a:t>Incremental training is a training method that essentially builds the network from the ground up, each one almost fine-tuning the previous layer. This can be done in two ways, either locking the previous partition’s weights or allowing them to be updated (which is done here). The reason locking weights were not used was mainly for simplicity, as some way of storing separate weights must be used and the goal of the project is the implementation rather than the network itself.</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[SHOW CODE]</a:t>
            </a:r>
            <a:endParaRPr/>
          </a:p>
          <a:p>
            <a:pPr indent="0" lvl="0" marL="0" rtl="0" algn="l">
              <a:spcBef>
                <a:spcPts val="0"/>
              </a:spcBef>
              <a:spcAft>
                <a:spcPts val="0"/>
              </a:spcAft>
              <a:buClr>
                <a:schemeClr val="dk1"/>
              </a:buClr>
              <a:buSzPts val="1100"/>
              <a:buFont typeface="Arial"/>
              <a:buNone/>
            </a:pPr>
            <a:r>
              <a:rPr lang="en-GB">
                <a:solidFill>
                  <a:schemeClr val="dk1"/>
                </a:solidFill>
              </a:rPr>
              <a:t>This is the training loop for the model.</a:t>
            </a:r>
            <a:endParaRPr>
              <a:solidFill>
                <a:schemeClr val="dk1"/>
              </a:solidFill>
            </a:endParaRPr>
          </a:p>
          <a:p>
            <a:pPr indent="0" lvl="0" marL="0" rtl="0" algn="l">
              <a:spcBef>
                <a:spcPts val="0"/>
              </a:spcBef>
              <a:spcAft>
                <a:spcPts val="0"/>
              </a:spcAft>
              <a:buNone/>
            </a:pPr>
            <a:r>
              <a:rPr lang="en-GB">
                <a:solidFill>
                  <a:schemeClr val="dk1"/>
                </a:solidFill>
              </a:rPr>
              <a:t>Each width multiplier (partition) is trained (somewhat) independently. A new optimiser with new weight decay is instantiated each time, and the training function is repeated for however many epochs for each partition (here: 10).</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[UPDATE ON VP]</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47b75ba45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47b75ba45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To export to ONNX there are 5 main steps</a:t>
            </a:r>
            <a:endParaRPr/>
          </a:p>
          <a:p>
            <a:pPr indent="-298450" lvl="0" marL="457200" rtl="0" algn="l">
              <a:spcBef>
                <a:spcPts val="0"/>
              </a:spcBef>
              <a:spcAft>
                <a:spcPts val="0"/>
              </a:spcAft>
              <a:buSzPts val="1100"/>
              <a:buAutoNum type="arabicPeriod"/>
            </a:pPr>
            <a:r>
              <a:rPr lang="en-GB"/>
              <a:t>Create a static version of the original dynamic network (this is to allow ONNC to compile to the NVDLA loadable)</a:t>
            </a:r>
            <a:endParaRPr/>
          </a:p>
          <a:p>
            <a:pPr indent="-298450" lvl="0" marL="457200" rtl="0" algn="l">
              <a:spcBef>
                <a:spcPts val="0"/>
              </a:spcBef>
              <a:spcAft>
                <a:spcPts val="0"/>
              </a:spcAft>
              <a:buSzPts val="1100"/>
              <a:buAutoNum type="arabicPeriod"/>
            </a:pPr>
            <a:r>
              <a:rPr lang="en-GB"/>
              <a:t>Load the original dynamic network</a:t>
            </a:r>
            <a:endParaRPr/>
          </a:p>
          <a:p>
            <a:pPr indent="-298450" lvl="0" marL="457200" rtl="0" algn="l">
              <a:spcBef>
                <a:spcPts val="0"/>
              </a:spcBef>
              <a:spcAft>
                <a:spcPts val="0"/>
              </a:spcAft>
              <a:buSzPts val="1100"/>
              <a:buAutoNum type="arabicPeriod"/>
            </a:pPr>
            <a:r>
              <a:rPr lang="en-GB"/>
              <a:t>Instantiate a new </a:t>
            </a:r>
            <a:r>
              <a:rPr lang="en-GB"/>
              <a:t>version of the static network for each partition</a:t>
            </a:r>
            <a:endParaRPr/>
          </a:p>
          <a:p>
            <a:pPr indent="-298450" lvl="0" marL="457200" rtl="0" algn="l">
              <a:spcBef>
                <a:spcPts val="0"/>
              </a:spcBef>
              <a:spcAft>
                <a:spcPts val="0"/>
              </a:spcAft>
              <a:buSzPts val="1100"/>
              <a:buAutoNum type="arabicPeriod"/>
            </a:pPr>
            <a:r>
              <a:rPr lang="en-GB"/>
              <a:t>Load the weights (with the correct size) into each partition</a:t>
            </a:r>
            <a:endParaRPr/>
          </a:p>
          <a:p>
            <a:pPr indent="-298450" lvl="0" marL="457200" rtl="0" algn="l">
              <a:spcBef>
                <a:spcPts val="0"/>
              </a:spcBef>
              <a:spcAft>
                <a:spcPts val="0"/>
              </a:spcAft>
              <a:buSzPts val="1100"/>
              <a:buAutoNum type="arabicPeriod"/>
            </a:pPr>
            <a:r>
              <a:rPr lang="en-GB"/>
              <a:t>Use the PyTorch ONNX module to export the network</a:t>
            </a:r>
            <a:endParaRPr/>
          </a:p>
          <a:p>
            <a:pPr indent="0" lvl="0" marL="0" rtl="0" algn="l">
              <a:spcBef>
                <a:spcPts val="0"/>
              </a:spcBef>
              <a:spcAft>
                <a:spcPts val="0"/>
              </a:spcAft>
              <a:buNone/>
            </a:pPr>
            <a:r>
              <a:rPr lang="en-GB"/>
              <a:t>After this the ONNX module can be used with a dummy input to check the execution of the network.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[SHOW CODE]</a:t>
            </a:r>
            <a:endParaRPr/>
          </a:p>
          <a:p>
            <a:pPr indent="0" lvl="0" marL="0" rtl="0" algn="l">
              <a:spcBef>
                <a:spcPts val="0"/>
              </a:spcBef>
              <a:spcAft>
                <a:spcPts val="0"/>
              </a:spcAft>
              <a:buClr>
                <a:schemeClr val="dk1"/>
              </a:buClr>
              <a:buSzPts val="1100"/>
              <a:buFont typeface="Arial"/>
              <a:buNone/>
            </a:pPr>
            <a:r>
              <a:rPr lang="en-GB">
                <a:solidFill>
                  <a:schemeClr val="dk1"/>
                </a:solidFill>
              </a:rPr>
              <a:t>This is the static version of the AlexSNN that I produced.</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It has the exact same structure and each layer is simply the expected size at each layer.</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GB">
                <a:solidFill>
                  <a:schemeClr val="dk1"/>
                </a:solidFill>
              </a:rPr>
              <a:t>This is a quick slide showing the loading of the weights. The models are kept in a list for simplicity’s sake</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GB">
                <a:solidFill>
                  <a:schemeClr val="dk1"/>
                </a:solidFill>
              </a:rPr>
              <a:t>This code exports and checks the models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[LIVE DEMO]</a:t>
            </a:r>
            <a:endParaRPr>
              <a:solidFill>
                <a:schemeClr val="dk1"/>
              </a:solidFill>
            </a:endParaRPr>
          </a:p>
          <a:p>
            <a:pPr indent="0" lvl="0" marL="0" rtl="0" algn="l">
              <a:spcBef>
                <a:spcPts val="0"/>
              </a:spcBef>
              <a:spcAft>
                <a:spcPts val="0"/>
              </a:spcAft>
              <a:buNone/>
            </a:pPr>
            <a:r>
              <a:rPr lang="en-GB">
                <a:solidFill>
                  <a:schemeClr val="dk1"/>
                </a:solidFill>
              </a:rPr>
              <a:t>First off, we must export to ONNX, the dynamic network is exported into partitions as a dynamic network is currently unsupported by the NVDLA (due to KMD issues)</a:t>
            </a:r>
            <a:endParaRPr>
              <a:solidFill>
                <a:schemeClr val="dk1"/>
              </a:solidFill>
            </a:endParaRPr>
          </a:p>
          <a:p>
            <a:pPr indent="0" lvl="0" marL="0" rtl="0" algn="l">
              <a:spcBef>
                <a:spcPts val="0"/>
              </a:spcBef>
              <a:spcAft>
                <a:spcPts val="0"/>
              </a:spcAft>
              <a:buNone/>
            </a:pPr>
            <a:r>
              <a:rPr lang="en-GB">
                <a:solidFill>
                  <a:schemeClr val="dk1"/>
                </a:solidFill>
              </a:rPr>
              <a:t>python3 output_each_partition.py -l</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python3 output_each_partition.py alex_snn_2_part</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4a1ee06335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4a1ee06335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Compiling to NVDLA is done with the ONNC compiler. This is an open-source compiler design to export from ONNX to any deep learning accelerator.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Dockers are great. Seriously brilliant. Compiling with onnc can be done really quickly and easily with the ONNC community docker. Takes literally two commands (+ some more for </a:t>
            </a:r>
            <a:r>
              <a:rPr lang="en-GB"/>
              <a:t>transferring</a:t>
            </a:r>
            <a:r>
              <a:rPr lang="en-GB"/>
              <a:t> the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You can see an example compilation below, with the resulting file.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[LIVE DEMO]</a:t>
            </a:r>
            <a:endParaRPr/>
          </a:p>
          <a:p>
            <a:pPr indent="0" lvl="0" marL="0" rtl="0" algn="l">
              <a:spcBef>
                <a:spcPts val="0"/>
              </a:spcBef>
              <a:spcAft>
                <a:spcPts val="0"/>
              </a:spcAft>
              <a:buClr>
                <a:schemeClr val="dk1"/>
              </a:buClr>
              <a:buSzPts val="1100"/>
              <a:buFont typeface="Arial"/>
              <a:buNone/>
            </a:pPr>
            <a:r>
              <a:rPr lang="en-GB">
                <a:solidFill>
                  <a:schemeClr val="dk1"/>
                </a:solidFill>
              </a:rPr>
              <a:t>Next we use a docker to access the ONNC compiler, to compile from ONNX to NVDLA</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docker run -it -v /home:/home onnc/onnc-community /bin/bash</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ls /home/benjamin/Desktop/NVDLA_SlimNNs/Compilation/partitioned_networks/onnx/</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tools/onnc/onnc -mquadruple nvdla /home/benjamin/Desktop/NVDLA_SlimNNs/Compilation/partitioned_networks/onnx/alex_snn_2_part_part_1.onnx</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This generates the out.nvdla file seen here (do an ls)</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I compiled both parts of the network earlier and copied them out of the docker (as this is a long, annoying process)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4a1ee06335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4a1ee06335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So within the NVDLA stack, there are three </a:t>
            </a:r>
            <a:r>
              <a:rPr lang="en-GB"/>
              <a:t>software layers, and the hardware layer. The UMD stands for User Mode Driver, and provides a standard API for interfacing with the hardware.</a:t>
            </a:r>
            <a:endParaRPr/>
          </a:p>
          <a:p>
            <a:pPr indent="0" lvl="0" marL="0" rtl="0" algn="l">
              <a:spcBef>
                <a:spcPts val="0"/>
              </a:spcBef>
              <a:spcAft>
                <a:spcPts val="0"/>
              </a:spcAft>
              <a:buNone/>
            </a:pPr>
            <a:r>
              <a:rPr lang="en-GB"/>
              <a:t>The kernel mode drive (or KMD) is what schedules time, allocates memory, etc.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I’ve developed two runtimes: a single-UMD runtime and a multi-UMD runtime. Alongside these, I’ve made some minor modifications, most notably to normalisation, allowing for multiple standard deviation normalisation values to be passed to the runtime, rather than just one, giving more accurate normalisation. Both new runtimes were created and now sit within an edited version of the NVDLA SW repository - available on my GitHub.</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47b75ba45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47b75ba45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On the slide is the flow chart of the single-UMD runtime. It may look like a lot, but it is more normal than it seems. The flow essentially starts with your usual parsing of arguments.</a:t>
            </a:r>
            <a:endParaRPr/>
          </a:p>
          <a:p>
            <a:pPr indent="0" lvl="0" marL="0" rtl="0" algn="l">
              <a:spcBef>
                <a:spcPts val="0"/>
              </a:spcBef>
              <a:spcAft>
                <a:spcPts val="0"/>
              </a:spcAft>
              <a:buNone/>
            </a:pPr>
            <a:r>
              <a:rPr lang="en-GB"/>
              <a:t>Begin test and run test are mainly validation checks and the main wrapper function for the program respectively</a:t>
            </a:r>
            <a:endParaRPr/>
          </a:p>
          <a:p>
            <a:pPr indent="0" lvl="0" marL="0" rtl="0" algn="l">
              <a:spcBef>
                <a:spcPts val="0"/>
              </a:spcBef>
              <a:spcAft>
                <a:spcPts val="0"/>
              </a:spcAft>
              <a:buNone/>
            </a:pPr>
            <a:r>
              <a:rPr lang="en-GB"/>
              <a:t>Instantiating the runtime is the creation of the UMD object.</a:t>
            </a:r>
            <a:endParaRPr/>
          </a:p>
          <a:p>
            <a:pPr indent="0" lvl="0" marL="0" rtl="0" algn="l">
              <a:spcBef>
                <a:spcPts val="0"/>
              </a:spcBef>
              <a:spcAft>
                <a:spcPts val="0"/>
              </a:spcAft>
              <a:buNone/>
            </a:pPr>
            <a:r>
              <a:rPr lang="en-GB"/>
              <a:t>Following that, the program reads and loads the loadables</a:t>
            </a:r>
            <a:endParaRPr/>
          </a:p>
          <a:p>
            <a:pPr indent="0" lvl="0" marL="0" rtl="0" algn="l">
              <a:spcBef>
                <a:spcPts val="0"/>
              </a:spcBef>
              <a:spcAft>
                <a:spcPts val="0"/>
              </a:spcAft>
              <a:buNone/>
            </a:pPr>
            <a:r>
              <a:rPr lang="en-GB"/>
              <a:t>The initialisation and creation of the emulator and task setup the environment for the inference</a:t>
            </a:r>
            <a:endParaRPr/>
          </a:p>
          <a:p>
            <a:pPr indent="0" lvl="0" marL="0" rtl="0" algn="l">
              <a:spcBef>
                <a:spcPts val="0"/>
              </a:spcBef>
              <a:spcAft>
                <a:spcPts val="0"/>
              </a:spcAft>
              <a:buNone/>
            </a:pPr>
            <a:r>
              <a:rPr lang="en-GB"/>
              <a:t>The creation of the image buffers are essentially the allocation of the memory for the images</a:t>
            </a:r>
            <a:endParaRPr/>
          </a:p>
          <a:p>
            <a:pPr indent="0" lvl="0" marL="0" rtl="0" algn="l">
              <a:spcBef>
                <a:spcPts val="0"/>
              </a:spcBef>
              <a:spcAft>
                <a:spcPts val="0"/>
              </a:spcAft>
              <a:buNone/>
            </a:pPr>
            <a:r>
              <a:rPr lang="en-GB"/>
              <a:t>The inference actually happens when the task is submitted, and then outputs are calculated.</a:t>
            </a:r>
            <a:endParaRPr/>
          </a:p>
          <a:p>
            <a:pPr indent="0" lvl="0" marL="0" rtl="0" algn="l">
              <a:spcBef>
                <a:spcPts val="0"/>
              </a:spcBef>
              <a:spcAft>
                <a:spcPts val="0"/>
              </a:spcAft>
              <a:buNone/>
            </a:pPr>
            <a:r>
              <a:rPr lang="en-GB"/>
              <a:t>After this, the program cleans up the memory</a:t>
            </a:r>
            <a:endParaRPr/>
          </a:p>
          <a:p>
            <a:pPr indent="0" lvl="0" marL="0" rtl="0" algn="l">
              <a:spcBef>
                <a:spcPts val="0"/>
              </a:spcBef>
              <a:spcAft>
                <a:spcPts val="0"/>
              </a:spcAft>
              <a:buNone/>
            </a:pPr>
            <a:r>
              <a:rPr lang="en-GB"/>
              <a:t>At this point, the confidence in the output is checked, before either outputting the final dimg file, or starting the program again at the runtime instantiation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boxes highlighted in red are those where the UMD interacts with the KMD.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[SHOW CODE]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47b75ba455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47b75ba455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This is the flow chart for the multi-UMD system.</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Rather than loading each loadable based on when it is needed, this runtime loads them all at the start.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By front-loading all of the loadables (with a second loop) it creates an environment that would be more efficient for a series of inferences on many </a:t>
            </a:r>
            <a:r>
              <a:rPr lang="en-GB"/>
              <a:t>images.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[SHOW CODE]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4a2e0f0bf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4a2e0f0bf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Compilation of the runtime is </a:t>
            </a:r>
            <a:r>
              <a:rPr lang="en-GB"/>
              <a:t>relatively</a:t>
            </a:r>
            <a:r>
              <a:rPr lang="en-GB"/>
              <a:t> simple, and uses another docker (a standard ubuntu 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To </a:t>
            </a:r>
            <a:r>
              <a:rPr lang="en-GB"/>
              <a:t>successfully</a:t>
            </a:r>
            <a:r>
              <a:rPr lang="en-GB"/>
              <a:t> compile, 3 packages have to be installed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After this, the regular Makefile is used as can be seen on the slide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A script was written to compile and then transfer somewhere for the sake of ease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[LIVE DEMO]</a:t>
            </a:r>
            <a:endParaRPr/>
          </a:p>
          <a:p>
            <a:pPr indent="0" lvl="0" marL="0" rtl="0" algn="l">
              <a:spcBef>
                <a:spcPts val="0"/>
              </a:spcBef>
              <a:spcAft>
                <a:spcPts val="0"/>
              </a:spcAft>
              <a:buClr>
                <a:schemeClr val="dk1"/>
              </a:buClr>
              <a:buSzPts val="1100"/>
              <a:buFont typeface="Arial"/>
              <a:buNone/>
            </a:pPr>
            <a:r>
              <a:rPr lang="en-GB">
                <a:solidFill>
                  <a:schemeClr val="dk1"/>
                </a:solidFill>
              </a:rPr>
              <a:t>I’ve </a:t>
            </a:r>
            <a:r>
              <a:rPr lang="en-GB">
                <a:solidFill>
                  <a:schemeClr val="dk1"/>
                </a:solidFill>
              </a:rPr>
              <a:t>already</a:t>
            </a:r>
            <a:r>
              <a:rPr lang="en-GB">
                <a:solidFill>
                  <a:schemeClr val="dk1"/>
                </a:solidFill>
              </a:rPr>
              <a:t> loaded the docker and installed the required packages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Next, is to show the compilation of a runtime, using the ubuntu 16.04 docker</a:t>
            </a:r>
            <a:endParaRPr>
              <a:solidFill>
                <a:schemeClr val="dk1"/>
              </a:solidFill>
            </a:endParaRPr>
          </a:p>
          <a:p>
            <a:pPr indent="0" lvl="0" marL="0" rtl="0" algn="l">
              <a:spcBef>
                <a:spcPts val="0"/>
              </a:spcBef>
              <a:spcAft>
                <a:spcPts val="0"/>
              </a:spcAft>
              <a:buClr>
                <a:schemeClr val="dk1"/>
              </a:buClr>
              <a:buSzPts val="1100"/>
              <a:buFont typeface="Arial"/>
              <a:buNone/>
            </a:pPr>
            <a:r>
              <a:rPr lang="en-GB" sz="1000">
                <a:solidFill>
                  <a:srgbClr val="1F2328"/>
                </a:solidFill>
                <a:highlight>
                  <a:srgbClr val="F6F8FA"/>
                </a:highlight>
                <a:latin typeface="Consolas"/>
                <a:ea typeface="Consolas"/>
                <a:cs typeface="Consolas"/>
                <a:sym typeface="Consolas"/>
              </a:rPr>
              <a:t>docker run -it -v /home:/home ubuntu:16.04</a:t>
            </a:r>
            <a:endParaRPr sz="1000">
              <a:solidFill>
                <a:srgbClr val="1F2328"/>
              </a:solidFill>
              <a:highlight>
                <a:srgbClr val="F6F8FA"/>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sz="1000">
                <a:solidFill>
                  <a:srgbClr val="1F2328"/>
                </a:solidFill>
                <a:highlight>
                  <a:srgbClr val="F6F8FA"/>
                </a:highlight>
                <a:latin typeface="Consolas"/>
                <a:ea typeface="Consolas"/>
                <a:cs typeface="Consolas"/>
                <a:sym typeface="Consolas"/>
              </a:rPr>
              <a:t>apt-get update</a:t>
            </a:r>
            <a:endParaRPr sz="1000">
              <a:solidFill>
                <a:srgbClr val="1F2328"/>
              </a:solidFill>
              <a:highlight>
                <a:srgbClr val="F6F8FA"/>
              </a:highlight>
              <a:latin typeface="Consolas"/>
              <a:ea typeface="Consolas"/>
              <a:cs typeface="Consolas"/>
              <a:sym typeface="Consolas"/>
            </a:endParaRPr>
          </a:p>
          <a:p>
            <a:pPr indent="0" lvl="0" marL="0" rtl="0" algn="l">
              <a:lnSpc>
                <a:spcPct val="145000"/>
              </a:lnSpc>
              <a:spcBef>
                <a:spcPts val="0"/>
              </a:spcBef>
              <a:spcAft>
                <a:spcPts val="0"/>
              </a:spcAft>
              <a:buClr>
                <a:schemeClr val="dk1"/>
              </a:buClr>
              <a:buSzPts val="1100"/>
              <a:buFont typeface="Arial"/>
              <a:buNone/>
            </a:pPr>
            <a:r>
              <a:rPr lang="en-GB" sz="1000">
                <a:solidFill>
                  <a:srgbClr val="1F2328"/>
                </a:solidFill>
                <a:highlight>
                  <a:srgbClr val="F6F8FA"/>
                </a:highlight>
                <a:latin typeface="Consolas"/>
                <a:ea typeface="Consolas"/>
                <a:cs typeface="Consolas"/>
                <a:sym typeface="Consolas"/>
              </a:rPr>
              <a:t>apt-get install gcc-aarch64-linux-gnu g++-aarch64-linux-gnu make -y</a:t>
            </a:r>
            <a:br>
              <a:rPr lang="en-GB" sz="1000">
                <a:solidFill>
                  <a:srgbClr val="1F2328"/>
                </a:solidFill>
                <a:highlight>
                  <a:srgbClr val="F6F8FA"/>
                </a:highlight>
                <a:latin typeface="Consolas"/>
                <a:ea typeface="Consolas"/>
                <a:cs typeface="Consolas"/>
                <a:sym typeface="Consolas"/>
              </a:rPr>
            </a:br>
            <a:r>
              <a:rPr lang="en-GB" sz="1000">
                <a:solidFill>
                  <a:srgbClr val="1F2328"/>
                </a:solidFill>
                <a:highlight>
                  <a:srgbClr val="F6F8FA"/>
                </a:highlight>
                <a:latin typeface="Consolas"/>
                <a:ea typeface="Consolas"/>
                <a:cs typeface="Consolas"/>
                <a:sym typeface="Consolas"/>
              </a:rPr>
              <a:t>cd /home/benjamin/Desktop/NVDLA_SlimNNs/Runtime</a:t>
            </a:r>
            <a:endParaRPr sz="1000">
              <a:solidFill>
                <a:srgbClr val="1F2328"/>
              </a:solidFill>
              <a:highlight>
                <a:srgbClr val="F6F8FA"/>
              </a:highlight>
              <a:latin typeface="Consolas"/>
              <a:ea typeface="Consolas"/>
              <a:cs typeface="Consolas"/>
              <a:sym typeface="Consolas"/>
            </a:endParaRPr>
          </a:p>
          <a:p>
            <a:pPr indent="0" lvl="0" marL="0" rtl="0" algn="l">
              <a:lnSpc>
                <a:spcPct val="145000"/>
              </a:lnSpc>
              <a:spcBef>
                <a:spcPts val="0"/>
              </a:spcBef>
              <a:spcAft>
                <a:spcPts val="0"/>
              </a:spcAft>
              <a:buClr>
                <a:schemeClr val="dk1"/>
              </a:buClr>
              <a:buSzPts val="1100"/>
              <a:buFont typeface="Arial"/>
              <a:buNone/>
            </a:pPr>
            <a:r>
              <a:rPr lang="en-GB" sz="1000">
                <a:solidFill>
                  <a:srgbClr val="1F2328"/>
                </a:solidFill>
                <a:highlight>
                  <a:srgbClr val="F6F8FA"/>
                </a:highlight>
                <a:latin typeface="Consolas"/>
                <a:ea typeface="Consolas"/>
                <a:cs typeface="Consolas"/>
                <a:sym typeface="Consolas"/>
              </a:rPr>
              <a:t>./compile_and_transfer.sh single_runtime</a:t>
            </a:r>
            <a:endParaRPr sz="1000">
              <a:solidFill>
                <a:srgbClr val="1F2328"/>
              </a:solidFill>
              <a:highlight>
                <a:srgbClr val="F6F8FA"/>
              </a:highlight>
              <a:latin typeface="Consolas"/>
              <a:ea typeface="Consolas"/>
              <a:cs typeface="Consolas"/>
              <a:sym typeface="Consolas"/>
            </a:endParaRPr>
          </a:p>
          <a:p>
            <a:pPr indent="0" lvl="0" marL="0" rtl="0" algn="l">
              <a:lnSpc>
                <a:spcPct val="145000"/>
              </a:lnSpc>
              <a:spcBef>
                <a:spcPts val="0"/>
              </a:spcBef>
              <a:spcAft>
                <a:spcPts val="0"/>
              </a:spcAft>
              <a:buClr>
                <a:schemeClr val="dk1"/>
              </a:buClr>
              <a:buSzPts val="1100"/>
              <a:buFont typeface="Arial"/>
              <a:buNone/>
            </a:pPr>
            <a:r>
              <a:rPr lang="en-GB" sz="1000">
                <a:solidFill>
                  <a:srgbClr val="1F2328"/>
                </a:solidFill>
                <a:highlight>
                  <a:srgbClr val="F6F8FA"/>
                </a:highlight>
                <a:latin typeface="Consolas"/>
                <a:ea typeface="Consolas"/>
                <a:cs typeface="Consolas"/>
                <a:sym typeface="Consolas"/>
              </a:rPr>
              <a:t>ls runtime_outputs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4a1ee06335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4a1ee06335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NVDLA virtual platform is pretty much just the emulator for the NVDLA</a:t>
            </a:r>
            <a:endParaRPr/>
          </a:p>
          <a:p>
            <a:pPr indent="0" lvl="0" marL="0" rtl="0" algn="l">
              <a:spcBef>
                <a:spcPts val="0"/>
              </a:spcBef>
              <a:spcAft>
                <a:spcPts val="0"/>
              </a:spcAft>
              <a:buNone/>
            </a:pPr>
            <a:r>
              <a:rPr lang="en-GB"/>
              <a:t>Again, another docker is used, and two are available</a:t>
            </a:r>
            <a:endParaRPr/>
          </a:p>
          <a:p>
            <a:pPr indent="0" lvl="0" marL="0" rtl="0" algn="l">
              <a:spcBef>
                <a:spcPts val="0"/>
              </a:spcBef>
              <a:spcAft>
                <a:spcPts val="0"/>
              </a:spcAft>
              <a:buNone/>
            </a:pPr>
            <a:r>
              <a:rPr lang="en-GB"/>
              <a:t>The ONNC virtual platform has expanded on the original, and has more support in recent times</a:t>
            </a:r>
            <a:endParaRPr/>
          </a:p>
          <a:p>
            <a:pPr indent="0" lvl="0" marL="0" rtl="0" algn="l">
              <a:spcBef>
                <a:spcPts val="0"/>
              </a:spcBef>
              <a:spcAft>
                <a:spcPts val="0"/>
              </a:spcAft>
              <a:buNone/>
            </a:pPr>
            <a:r>
              <a:rPr lang="en-GB"/>
              <a:t>After loading into the docker, navigate to the nvdla directory and run the command seen there</a:t>
            </a:r>
            <a:endParaRPr/>
          </a:p>
          <a:p>
            <a:pPr indent="0" lvl="0" marL="0" rtl="0" algn="l">
              <a:spcBef>
                <a:spcPts val="0"/>
              </a:spcBef>
              <a:spcAft>
                <a:spcPts val="0"/>
              </a:spcAft>
              <a:buNone/>
            </a:pPr>
            <a:r>
              <a:rPr lang="en-GB"/>
              <a:t>The login for the virtual platform is the same for both forms by default: root and nvdla</a:t>
            </a:r>
            <a:endParaRPr/>
          </a:p>
          <a:p>
            <a:pPr indent="0" lvl="0" marL="0" rtl="0" algn="l">
              <a:spcBef>
                <a:spcPts val="0"/>
              </a:spcBef>
              <a:spcAft>
                <a:spcPts val="0"/>
              </a:spcAft>
              <a:buNone/>
            </a:pPr>
            <a:r>
              <a:rPr lang="en-GB"/>
              <a:t>After starting the virtual platform, the drive has to be mounted (see command) and the environment initialised, importing the required libraries into the VP</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4a1ee06335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4a1ee06335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After running the VP, the runtime can be executed. The two runtimes I created have the same arguments for the program.</a:t>
            </a:r>
            <a:endParaRPr/>
          </a:p>
          <a:p>
            <a:pPr indent="0" lvl="0" marL="0" rtl="0" algn="l">
              <a:spcBef>
                <a:spcPts val="0"/>
              </a:spcBef>
              <a:spcAft>
                <a:spcPts val="0"/>
              </a:spcAft>
              <a:buNone/>
            </a:pPr>
            <a:r>
              <a:rPr lang="en-GB"/>
              <a:t>It is a very long command, with the mean and normalize arguments specified for the CIFAR10 dataset.</a:t>
            </a:r>
            <a:endParaRPr/>
          </a:p>
          <a:p>
            <a:pPr indent="0" lvl="0" marL="0" rtl="0" algn="l">
              <a:spcBef>
                <a:spcPts val="0"/>
              </a:spcBef>
              <a:spcAft>
                <a:spcPts val="0"/>
              </a:spcAft>
              <a:buNone/>
            </a:pPr>
            <a:r>
              <a:rPr lang="en-GB"/>
              <a:t>The number of partitions has to be specified and the loadables listed</a:t>
            </a:r>
            <a:endParaRPr/>
          </a:p>
          <a:p>
            <a:pPr indent="0" lvl="0" marL="0" rtl="0" algn="l">
              <a:spcBef>
                <a:spcPts val="0"/>
              </a:spcBef>
              <a:spcAft>
                <a:spcPts val="0"/>
              </a:spcAft>
              <a:buNone/>
            </a:pPr>
            <a:r>
              <a:rPr lang="en-GB"/>
              <a:t>The runtime outputs a dimg file, containing the direct output of the network</a:t>
            </a:r>
            <a:endParaRPr/>
          </a:p>
          <a:p>
            <a:pPr indent="0" lvl="0" marL="0" rtl="0" algn="l">
              <a:spcBef>
                <a:spcPts val="0"/>
              </a:spcBef>
              <a:spcAft>
                <a:spcPts val="0"/>
              </a:spcAft>
              <a:buNone/>
            </a:pPr>
            <a:r>
              <a:rPr lang="en-GB"/>
              <a:t>It’s important to note that the execution takes a while due to the nature of the emulator being reasonably inefficient.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[LIVE DEMO]</a:t>
            </a:r>
            <a:endParaRPr/>
          </a:p>
          <a:p>
            <a:pPr indent="0" lvl="0" marL="0" rtl="0" algn="l">
              <a:spcBef>
                <a:spcPts val="0"/>
              </a:spcBef>
              <a:spcAft>
                <a:spcPts val="0"/>
              </a:spcAft>
              <a:buClr>
                <a:schemeClr val="dk1"/>
              </a:buClr>
              <a:buSzPts val="1100"/>
              <a:buFont typeface="Arial"/>
              <a:buNone/>
            </a:pPr>
            <a:r>
              <a:rPr lang="en-GB">
                <a:solidFill>
                  <a:schemeClr val="dk1"/>
                </a:solidFill>
              </a:rPr>
              <a:t>Now the final thing to do is to load up the virtual platform and execute the network and the runtimes</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First let’s start the docker and copy the relevant files over</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docker run -it -v /home:/home onnc/vp</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cd /usr/local/nvdla</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cp /home/benjamin/Desktop/NVDLA_SlimNNs/Compilation/nvdla_models/alex_2_part_1.nvdla a2p1.nvdla</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cp /home/benjamin/Desktop/NVDLA_SlimNNs/Compilation/nvdla_models/alex_2_part_2.nvdla a2p2.nvdla</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cp /home/benjamin/Desktop/NVDLA_SlimNNs/Runtime/runtime_outputs/single_runtime single_runtime</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cp /home/benjamin/Desktop/NVDLA_SlimNNs/Runtime/used_images/airplane_0.jpg airplane_0.jpg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Next, we need to start the virtual platform itself</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aarch64_toplevel -c aarch64_nvdla.lua</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mount -t 9p -o trans=virtio r /mnt</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cd /mnt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sz="1000">
                <a:solidFill>
                  <a:srgbClr val="1F2328"/>
                </a:solidFill>
                <a:highlight>
                  <a:srgbClr val="F6F8FA"/>
                </a:highlight>
                <a:latin typeface="Consolas"/>
                <a:ea typeface="Consolas"/>
                <a:cs typeface="Consolas"/>
                <a:sym typeface="Consolas"/>
              </a:rPr>
              <a:t>./runtime --parts 2 --loadable a2p1.nvdla --loadable a2p2.nvdla --mean 0.4914,0.4822,0.4465 --normalize 0.2470,0.2435,0.2616 --image airplane_0.jpg --rawdump</a:t>
            </a:r>
            <a:endParaRPr sz="1000">
              <a:solidFill>
                <a:srgbClr val="1F2328"/>
              </a:solidFill>
              <a:highlight>
                <a:srgbClr val="F6F8FA"/>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000">
              <a:solidFill>
                <a:srgbClr val="1F2328"/>
              </a:solidFill>
              <a:highlight>
                <a:srgbClr val="F6F8FA"/>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GB" sz="1000">
                <a:solidFill>
                  <a:srgbClr val="1F2328"/>
                </a:solidFill>
                <a:highlight>
                  <a:srgbClr val="F6F8FA"/>
                </a:highlight>
                <a:latin typeface="Consolas"/>
                <a:ea typeface="Consolas"/>
                <a:cs typeface="Consolas"/>
                <a:sym typeface="Consolas"/>
              </a:rPr>
              <a:t>Now this will take a while to run, so we will check on the output at the end of the explanation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4b873c646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4b873c646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971250"/>
            <a:ext cx="8520600" cy="32010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End-to-End Implementation of a Slimmable Neural Network Atop the Software Stack of the NVDLA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End-to-End Flow</a:t>
            </a:r>
            <a:endParaRPr/>
          </a:p>
        </p:txBody>
      </p:sp>
      <p:sp>
        <p:nvSpPr>
          <p:cNvPr id="60" name="Google Shape;60;p14"/>
          <p:cNvSpPr/>
          <p:nvPr/>
        </p:nvSpPr>
        <p:spPr>
          <a:xfrm>
            <a:off x="966500" y="1501150"/>
            <a:ext cx="2049600" cy="1192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PyTorch Model</a:t>
            </a:r>
            <a:endParaRPr/>
          </a:p>
        </p:txBody>
      </p:sp>
      <p:sp>
        <p:nvSpPr>
          <p:cNvPr id="61" name="Google Shape;61;p14"/>
          <p:cNvSpPr/>
          <p:nvPr/>
        </p:nvSpPr>
        <p:spPr>
          <a:xfrm>
            <a:off x="3547200" y="1501150"/>
            <a:ext cx="2049600" cy="1192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Export ONNX</a:t>
            </a:r>
            <a:endParaRPr/>
          </a:p>
        </p:txBody>
      </p:sp>
      <p:sp>
        <p:nvSpPr>
          <p:cNvPr id="62" name="Google Shape;62;p14"/>
          <p:cNvSpPr/>
          <p:nvPr/>
        </p:nvSpPr>
        <p:spPr>
          <a:xfrm>
            <a:off x="6127900" y="1501150"/>
            <a:ext cx="2049600" cy="1192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Compile to NVDLA</a:t>
            </a:r>
            <a:endParaRPr/>
          </a:p>
        </p:txBody>
      </p:sp>
      <p:sp>
        <p:nvSpPr>
          <p:cNvPr id="63" name="Google Shape;63;p14"/>
          <p:cNvSpPr/>
          <p:nvPr/>
        </p:nvSpPr>
        <p:spPr>
          <a:xfrm>
            <a:off x="4837500" y="3295000"/>
            <a:ext cx="2049600" cy="1192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Network Execution</a:t>
            </a:r>
            <a:endParaRPr/>
          </a:p>
        </p:txBody>
      </p:sp>
      <p:sp>
        <p:nvSpPr>
          <p:cNvPr id="64" name="Google Shape;64;p14"/>
          <p:cNvSpPr/>
          <p:nvPr/>
        </p:nvSpPr>
        <p:spPr>
          <a:xfrm>
            <a:off x="2256800" y="3295000"/>
            <a:ext cx="2049600" cy="1192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Runtime Compilation</a:t>
            </a:r>
            <a:endParaRPr/>
          </a:p>
        </p:txBody>
      </p:sp>
      <p:cxnSp>
        <p:nvCxnSpPr>
          <p:cNvPr id="65" name="Google Shape;65;p14"/>
          <p:cNvCxnSpPr>
            <a:stCxn id="60" idx="3"/>
            <a:endCxn id="61" idx="1"/>
          </p:cNvCxnSpPr>
          <p:nvPr/>
        </p:nvCxnSpPr>
        <p:spPr>
          <a:xfrm>
            <a:off x="3016100" y="2097550"/>
            <a:ext cx="531000" cy="0"/>
          </a:xfrm>
          <a:prstGeom prst="straightConnector1">
            <a:avLst/>
          </a:prstGeom>
          <a:noFill/>
          <a:ln cap="flat" cmpd="sng" w="9525">
            <a:solidFill>
              <a:schemeClr val="dk2"/>
            </a:solidFill>
            <a:prstDash val="solid"/>
            <a:round/>
            <a:headEnd len="med" w="med" type="none"/>
            <a:tailEnd len="med" w="med" type="triangle"/>
          </a:ln>
        </p:spPr>
      </p:cxnSp>
      <p:cxnSp>
        <p:nvCxnSpPr>
          <p:cNvPr id="66" name="Google Shape;66;p14"/>
          <p:cNvCxnSpPr>
            <a:stCxn id="61" idx="3"/>
            <a:endCxn id="62" idx="1"/>
          </p:cNvCxnSpPr>
          <p:nvPr/>
        </p:nvCxnSpPr>
        <p:spPr>
          <a:xfrm>
            <a:off x="5596800" y="2097550"/>
            <a:ext cx="531000" cy="0"/>
          </a:xfrm>
          <a:prstGeom prst="straightConnector1">
            <a:avLst/>
          </a:prstGeom>
          <a:noFill/>
          <a:ln cap="flat" cmpd="sng" w="9525">
            <a:solidFill>
              <a:schemeClr val="dk2"/>
            </a:solidFill>
            <a:prstDash val="solid"/>
            <a:round/>
            <a:headEnd len="med" w="med" type="none"/>
            <a:tailEnd len="med" w="med" type="triangle"/>
          </a:ln>
        </p:spPr>
      </p:cxnSp>
      <p:cxnSp>
        <p:nvCxnSpPr>
          <p:cNvPr id="67" name="Google Shape;67;p14"/>
          <p:cNvCxnSpPr/>
          <p:nvPr/>
        </p:nvCxnSpPr>
        <p:spPr>
          <a:xfrm flipH="1">
            <a:off x="4249800" y="2604750"/>
            <a:ext cx="1905600" cy="740400"/>
          </a:xfrm>
          <a:prstGeom prst="straightConnector1">
            <a:avLst/>
          </a:prstGeom>
          <a:noFill/>
          <a:ln cap="flat" cmpd="sng" w="9525">
            <a:solidFill>
              <a:schemeClr val="dk2"/>
            </a:solidFill>
            <a:prstDash val="solid"/>
            <a:round/>
            <a:headEnd len="med" w="med" type="none"/>
            <a:tailEnd len="med" w="med" type="triangle"/>
          </a:ln>
        </p:spPr>
      </p:cxnSp>
      <p:cxnSp>
        <p:nvCxnSpPr>
          <p:cNvPr id="68" name="Google Shape;68;p14"/>
          <p:cNvCxnSpPr>
            <a:stCxn id="64" idx="3"/>
            <a:endCxn id="63" idx="1"/>
          </p:cNvCxnSpPr>
          <p:nvPr/>
        </p:nvCxnSpPr>
        <p:spPr>
          <a:xfrm>
            <a:off x="4306400" y="3891400"/>
            <a:ext cx="5310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Slimmable Neural Networks</a:t>
            </a:r>
            <a:endParaRPr/>
          </a:p>
        </p:txBody>
      </p:sp>
      <p:sp>
        <p:nvSpPr>
          <p:cNvPr id="74" name="Google Shape;74;p15"/>
          <p:cNvSpPr txBox="1"/>
          <p:nvPr>
            <p:ph idx="1" type="body"/>
          </p:nvPr>
        </p:nvSpPr>
        <p:spPr>
          <a:xfrm>
            <a:off x="311700" y="1152475"/>
            <a:ext cx="4260300" cy="2205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Changes the width of the network:</a:t>
            </a:r>
            <a:endParaRPr/>
          </a:p>
          <a:p>
            <a:pPr indent="-342900" lvl="0" marL="457200" rtl="0" algn="l">
              <a:spcBef>
                <a:spcPts val="1200"/>
              </a:spcBef>
              <a:spcAft>
                <a:spcPts val="0"/>
              </a:spcAft>
              <a:buSzPts val="1800"/>
              <a:buChar char="●"/>
            </a:pPr>
            <a:r>
              <a:rPr lang="en-GB"/>
              <a:t>Convolution: Number of Channels</a:t>
            </a:r>
            <a:endParaRPr/>
          </a:p>
          <a:p>
            <a:pPr indent="-342900" lvl="0" marL="457200" rtl="0" algn="l">
              <a:spcBef>
                <a:spcPts val="0"/>
              </a:spcBef>
              <a:spcAft>
                <a:spcPts val="0"/>
              </a:spcAft>
              <a:buSzPts val="1800"/>
              <a:buChar char="●"/>
            </a:pPr>
            <a:r>
              <a:rPr lang="en-GB"/>
              <a:t>Linear: Number of Features</a:t>
            </a:r>
            <a:endParaRPr/>
          </a:p>
          <a:p>
            <a:pPr indent="0" lvl="0" marL="0" rtl="0" algn="l">
              <a:spcBef>
                <a:spcPts val="1200"/>
              </a:spcBef>
              <a:spcAft>
                <a:spcPts val="1200"/>
              </a:spcAft>
              <a:buNone/>
            </a:pPr>
            <a:r>
              <a:rPr lang="en-GB"/>
              <a:t>Width most commonly defined with a multiplier</a:t>
            </a:r>
            <a:endParaRPr/>
          </a:p>
        </p:txBody>
      </p:sp>
      <p:pic>
        <p:nvPicPr>
          <p:cNvPr id="75" name="Google Shape;75;p15"/>
          <p:cNvPicPr preferRelativeResize="0"/>
          <p:nvPr/>
        </p:nvPicPr>
        <p:blipFill>
          <a:blip r:embed="rId3">
            <a:alphaModFix/>
          </a:blip>
          <a:stretch>
            <a:fillRect/>
          </a:stretch>
        </p:blipFill>
        <p:spPr>
          <a:xfrm>
            <a:off x="152400" y="3428675"/>
            <a:ext cx="8839200" cy="1436035"/>
          </a:xfrm>
          <a:prstGeom prst="rect">
            <a:avLst/>
          </a:prstGeom>
          <a:noFill/>
          <a:ln>
            <a:noFill/>
          </a:ln>
        </p:spPr>
      </p:pic>
      <p:pic>
        <p:nvPicPr>
          <p:cNvPr id="76" name="Google Shape;76;p15"/>
          <p:cNvPicPr preferRelativeResize="0"/>
          <p:nvPr/>
        </p:nvPicPr>
        <p:blipFill>
          <a:blip r:embed="rId4">
            <a:alphaModFix/>
          </a:blip>
          <a:stretch>
            <a:fillRect/>
          </a:stretch>
        </p:blipFill>
        <p:spPr>
          <a:xfrm>
            <a:off x="5553100" y="445025"/>
            <a:ext cx="3279200" cy="35602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PyTorch Model</a:t>
            </a:r>
            <a:endParaRPr/>
          </a:p>
        </p:txBody>
      </p:sp>
      <p:sp>
        <p:nvSpPr>
          <p:cNvPr id="82" name="Google Shape;82;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New components</a:t>
            </a:r>
            <a:endParaRPr/>
          </a:p>
          <a:p>
            <a:pPr indent="-317500" lvl="1" marL="914400" rtl="0" algn="l">
              <a:spcBef>
                <a:spcPts val="0"/>
              </a:spcBef>
              <a:spcAft>
                <a:spcPts val="0"/>
              </a:spcAft>
              <a:buSzPts val="1400"/>
              <a:buChar char="○"/>
            </a:pPr>
            <a:r>
              <a:rPr lang="en-GB"/>
              <a:t>Slimmable Linear</a:t>
            </a:r>
            <a:endParaRPr/>
          </a:p>
          <a:p>
            <a:pPr indent="-317500" lvl="1" marL="914400" rtl="0" algn="l">
              <a:spcBef>
                <a:spcPts val="0"/>
              </a:spcBef>
              <a:spcAft>
                <a:spcPts val="0"/>
              </a:spcAft>
              <a:buSzPts val="1400"/>
              <a:buChar char="○"/>
            </a:pPr>
            <a:r>
              <a:rPr lang="en-GB"/>
              <a:t>Slimmable Convolution</a:t>
            </a:r>
            <a:endParaRPr/>
          </a:p>
          <a:p>
            <a:pPr indent="-342900" lvl="0" marL="457200" rtl="0" algn="l">
              <a:spcBef>
                <a:spcPts val="0"/>
              </a:spcBef>
              <a:spcAft>
                <a:spcPts val="0"/>
              </a:spcAft>
              <a:buSzPts val="1800"/>
              <a:buChar char="●"/>
            </a:pPr>
            <a:r>
              <a:rPr lang="en-GB"/>
              <a:t>AlexNet-based structure</a:t>
            </a:r>
            <a:endParaRPr/>
          </a:p>
          <a:p>
            <a:pPr indent="-342900" lvl="0" marL="457200" rtl="0" algn="l">
              <a:spcBef>
                <a:spcPts val="0"/>
              </a:spcBef>
              <a:spcAft>
                <a:spcPts val="0"/>
              </a:spcAft>
              <a:buSzPts val="1800"/>
              <a:buChar char="●"/>
            </a:pPr>
            <a:r>
              <a:rPr lang="en-GB"/>
              <a:t>Two different forward-pass functions</a:t>
            </a:r>
            <a:endParaRPr/>
          </a:p>
          <a:p>
            <a:pPr indent="-317500" lvl="1" marL="914400" rtl="0" algn="l">
              <a:spcBef>
                <a:spcPts val="0"/>
              </a:spcBef>
              <a:spcAft>
                <a:spcPts val="0"/>
              </a:spcAft>
              <a:buSzPts val="1400"/>
              <a:buChar char="○"/>
            </a:pPr>
            <a:r>
              <a:rPr lang="en-GB"/>
              <a:t>One automatically increases width</a:t>
            </a:r>
            <a:endParaRPr/>
          </a:p>
          <a:p>
            <a:pPr indent="-317500" lvl="1" marL="914400" rtl="0" algn="l">
              <a:spcBef>
                <a:spcPts val="0"/>
              </a:spcBef>
              <a:spcAft>
                <a:spcPts val="0"/>
              </a:spcAft>
              <a:buSzPts val="1400"/>
              <a:buChar char="○"/>
            </a:pPr>
            <a:r>
              <a:rPr lang="en-GB"/>
              <a:t>One does full process on current width</a:t>
            </a:r>
            <a:endParaRPr/>
          </a:p>
          <a:p>
            <a:pPr indent="-342900" lvl="0" marL="457200" rtl="0" algn="l">
              <a:spcBef>
                <a:spcPts val="0"/>
              </a:spcBef>
              <a:spcAft>
                <a:spcPts val="0"/>
              </a:spcAft>
              <a:buSzPts val="1800"/>
              <a:buChar char="●"/>
            </a:pPr>
            <a:r>
              <a:rPr lang="en-GB"/>
              <a:t>Incremental training</a:t>
            </a:r>
            <a:endParaRPr/>
          </a:p>
          <a:p>
            <a:pPr indent="-317500" lvl="1" marL="914400" rtl="0" algn="l">
              <a:spcBef>
                <a:spcPts val="0"/>
              </a:spcBef>
              <a:spcAft>
                <a:spcPts val="0"/>
              </a:spcAft>
              <a:buSzPts val="1400"/>
              <a:buChar char="○"/>
            </a:pPr>
            <a:r>
              <a:rPr lang="en-GB"/>
              <a:t>Train first partition</a:t>
            </a:r>
            <a:endParaRPr/>
          </a:p>
          <a:p>
            <a:pPr indent="-317500" lvl="1" marL="914400" rtl="0" algn="l">
              <a:spcBef>
                <a:spcPts val="0"/>
              </a:spcBef>
              <a:spcAft>
                <a:spcPts val="0"/>
              </a:spcAft>
              <a:buSzPts val="1400"/>
              <a:buChar char="○"/>
            </a:pPr>
            <a:r>
              <a:rPr lang="en-GB"/>
              <a:t>Then next partition using weights of the first</a:t>
            </a:r>
            <a:endParaRPr/>
          </a:p>
          <a:p>
            <a:pPr indent="-317500" lvl="1" marL="914400" rtl="0" algn="l">
              <a:spcBef>
                <a:spcPts val="0"/>
              </a:spcBef>
              <a:spcAft>
                <a:spcPts val="0"/>
              </a:spcAft>
              <a:buSzPts val="1400"/>
              <a:buChar char="○"/>
            </a:pPr>
            <a:r>
              <a:rPr lang="en-GB"/>
              <a:t>etc.</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Exporting to ONNX</a:t>
            </a:r>
            <a:endParaRPr/>
          </a:p>
        </p:txBody>
      </p:sp>
      <p:sp>
        <p:nvSpPr>
          <p:cNvPr id="88" name="Google Shape;88;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Static version of model created</a:t>
            </a:r>
            <a:endParaRPr/>
          </a:p>
          <a:p>
            <a:pPr indent="-342900" lvl="0" marL="457200" rtl="0" algn="l">
              <a:spcBef>
                <a:spcPts val="0"/>
              </a:spcBef>
              <a:spcAft>
                <a:spcPts val="0"/>
              </a:spcAft>
              <a:buSzPts val="1800"/>
              <a:buChar char="●"/>
            </a:pPr>
            <a:r>
              <a:rPr lang="en-GB"/>
              <a:t>Original dynamic model loaded</a:t>
            </a:r>
            <a:endParaRPr/>
          </a:p>
          <a:p>
            <a:pPr indent="-342900" lvl="0" marL="457200" rtl="0" algn="l">
              <a:spcBef>
                <a:spcPts val="0"/>
              </a:spcBef>
              <a:spcAft>
                <a:spcPts val="0"/>
              </a:spcAft>
              <a:buSzPts val="1800"/>
              <a:buChar char="●"/>
            </a:pPr>
            <a:r>
              <a:rPr lang="en-GB"/>
              <a:t>Weights are loaded into correct-sized static model</a:t>
            </a:r>
            <a:endParaRPr/>
          </a:p>
          <a:p>
            <a:pPr indent="-342900" lvl="0" marL="457200" rtl="0" algn="l">
              <a:spcBef>
                <a:spcPts val="0"/>
              </a:spcBef>
              <a:spcAft>
                <a:spcPts val="0"/>
              </a:spcAft>
              <a:buSzPts val="1800"/>
              <a:buChar char="●"/>
            </a:pPr>
            <a:r>
              <a:rPr lang="en-GB"/>
              <a:t>Use torch.onnx to export (must use opset 8)</a:t>
            </a:r>
            <a:endParaRPr/>
          </a:p>
          <a:p>
            <a:pPr indent="-342900" lvl="0" marL="457200" rtl="0" algn="l">
              <a:spcBef>
                <a:spcPts val="0"/>
              </a:spcBef>
              <a:spcAft>
                <a:spcPts val="0"/>
              </a:spcAft>
              <a:buSzPts val="1800"/>
              <a:buChar char="●"/>
            </a:pPr>
            <a:r>
              <a:rPr lang="en-GB"/>
              <a:t>Uses the onnx Python module to check the network</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Compiling to NVDLA</a:t>
            </a:r>
            <a:endParaRPr/>
          </a:p>
        </p:txBody>
      </p:sp>
      <p:sp>
        <p:nvSpPr>
          <p:cNvPr id="94" name="Google Shape;94;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Use the ONNC compiler</a:t>
            </a:r>
            <a:endParaRPr/>
          </a:p>
          <a:p>
            <a:pPr indent="-342900" lvl="0" marL="457200" rtl="0" algn="l">
              <a:spcBef>
                <a:spcPts val="0"/>
              </a:spcBef>
              <a:spcAft>
                <a:spcPts val="0"/>
              </a:spcAft>
              <a:buSzPts val="1800"/>
              <a:buChar char="●"/>
            </a:pPr>
            <a:r>
              <a:rPr lang="en-GB"/>
              <a:t>Best done on the onnc/onnc-community docker</a:t>
            </a:r>
            <a:endParaRPr/>
          </a:p>
          <a:p>
            <a:pPr indent="-342900" lvl="0" marL="457200" rtl="0" algn="l">
              <a:spcBef>
                <a:spcPts val="0"/>
              </a:spcBef>
              <a:spcAft>
                <a:spcPts val="0"/>
              </a:spcAft>
              <a:buSzPts val="1800"/>
              <a:buChar char="●"/>
            </a:pPr>
            <a:r>
              <a:rPr lang="en-GB"/>
              <a:t>The below syntax produces the NVDLA loadable in the current working directory as “out.nvdla”</a:t>
            </a:r>
            <a:endParaRPr/>
          </a:p>
          <a:p>
            <a:pPr indent="0" lvl="0" marL="0" rtl="0" algn="l">
              <a:spcBef>
                <a:spcPts val="1200"/>
              </a:spcBef>
              <a:spcAft>
                <a:spcPts val="1200"/>
              </a:spcAft>
              <a:buNone/>
            </a:pPr>
            <a:r>
              <a:rPr lang="en-GB" sz="1300">
                <a:latin typeface="Ubuntu Mono"/>
                <a:ea typeface="Ubuntu Mono"/>
                <a:cs typeface="Ubuntu Mono"/>
                <a:sym typeface="Ubuntu Mono"/>
              </a:rPr>
              <a:t>docker run -it -v /home:/home onnc/onnc-community</a:t>
            </a:r>
            <a:br>
              <a:rPr lang="en-GB" sz="1300">
                <a:latin typeface="Ubuntu Mono"/>
                <a:ea typeface="Ubuntu Mono"/>
                <a:cs typeface="Ubuntu Mono"/>
                <a:sym typeface="Ubuntu Mono"/>
              </a:rPr>
            </a:br>
            <a:r>
              <a:rPr lang="en-GB" sz="1300">
                <a:latin typeface="Ubuntu Mono"/>
                <a:ea typeface="Ubuntu Mono"/>
                <a:cs typeface="Ubuntu Mono"/>
                <a:sym typeface="Ubuntu Mono"/>
              </a:rPr>
              <a:t>tools/onnc/onnc -mquadruple nvdla &lt;path_to_model&gt;/model.onnx</a:t>
            </a:r>
            <a:endParaRPr/>
          </a:p>
        </p:txBody>
      </p:sp>
      <p:pic>
        <p:nvPicPr>
          <p:cNvPr id="95" name="Google Shape;95;p18"/>
          <p:cNvPicPr preferRelativeResize="0"/>
          <p:nvPr/>
        </p:nvPicPr>
        <p:blipFill>
          <a:blip r:embed="rId3">
            <a:alphaModFix/>
          </a:blip>
          <a:stretch>
            <a:fillRect/>
          </a:stretch>
        </p:blipFill>
        <p:spPr>
          <a:xfrm>
            <a:off x="0" y="3287898"/>
            <a:ext cx="9143999" cy="63795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NVDLA Runtimes</a:t>
            </a:r>
            <a:endParaRPr/>
          </a:p>
        </p:txBody>
      </p:sp>
      <p:sp>
        <p:nvSpPr>
          <p:cNvPr id="101" name="Google Shape;10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Two types:</a:t>
            </a:r>
            <a:endParaRPr/>
          </a:p>
          <a:p>
            <a:pPr indent="-317500" lvl="1" marL="914400" rtl="0" algn="l">
              <a:spcBef>
                <a:spcPts val="0"/>
              </a:spcBef>
              <a:spcAft>
                <a:spcPts val="0"/>
              </a:spcAft>
              <a:buSzPts val="1400"/>
              <a:buChar char="○"/>
            </a:pPr>
            <a:r>
              <a:rPr lang="en-GB"/>
              <a:t>Single-UMD</a:t>
            </a:r>
            <a:endParaRPr/>
          </a:p>
          <a:p>
            <a:pPr indent="-317500" lvl="1" marL="914400" rtl="0" algn="l">
              <a:spcBef>
                <a:spcPts val="0"/>
              </a:spcBef>
              <a:spcAft>
                <a:spcPts val="0"/>
              </a:spcAft>
              <a:buSzPts val="1400"/>
              <a:buChar char="○"/>
            </a:pPr>
            <a:r>
              <a:rPr lang="en-GB"/>
              <a:t>Multi-UMD</a:t>
            </a:r>
            <a:endParaRPr/>
          </a:p>
          <a:p>
            <a:pPr indent="-342900" lvl="0" marL="457200" rtl="0" algn="l">
              <a:spcBef>
                <a:spcPts val="0"/>
              </a:spcBef>
              <a:spcAft>
                <a:spcPts val="0"/>
              </a:spcAft>
              <a:buSzPts val="1800"/>
              <a:buChar char="●"/>
            </a:pPr>
            <a:r>
              <a:rPr lang="en-GB"/>
              <a:t>Minor changes to normalisation</a:t>
            </a:r>
            <a:endParaRPr/>
          </a:p>
          <a:p>
            <a:pPr indent="-342900" lvl="0" marL="457200" rtl="0" algn="l">
              <a:spcBef>
                <a:spcPts val="0"/>
              </a:spcBef>
              <a:spcAft>
                <a:spcPts val="0"/>
              </a:spcAft>
              <a:buSzPts val="1800"/>
              <a:buChar char="●"/>
            </a:pPr>
            <a:r>
              <a:rPr lang="en-GB"/>
              <a:t>Some changes to data structures for </a:t>
            </a:r>
            <a:br>
              <a:rPr lang="en-GB"/>
            </a:br>
            <a:r>
              <a:rPr lang="en-GB"/>
              <a:t>Single-UMD runtime</a:t>
            </a:r>
            <a:endParaRPr/>
          </a:p>
          <a:p>
            <a:pPr indent="-342900" lvl="0" marL="457200" rtl="0" algn="l">
              <a:spcBef>
                <a:spcPts val="0"/>
              </a:spcBef>
              <a:spcAft>
                <a:spcPts val="0"/>
              </a:spcAft>
              <a:buSzPts val="1800"/>
              <a:buChar char="●"/>
            </a:pPr>
            <a:r>
              <a:rPr lang="en-GB"/>
              <a:t>Uses edited form of the NVDLA SW repository </a:t>
            </a:r>
            <a:br>
              <a:rPr lang="en-GB"/>
            </a:br>
            <a:r>
              <a:rPr lang="en-GB"/>
              <a:t>(same Makefile, different files)</a:t>
            </a:r>
            <a:endParaRPr sz="1500">
              <a:latin typeface="Ubuntu Mono"/>
              <a:ea typeface="Ubuntu Mono"/>
              <a:cs typeface="Ubuntu Mono"/>
              <a:sym typeface="Ubuntu Mono"/>
            </a:endParaRPr>
          </a:p>
          <a:p>
            <a:pPr indent="0" lvl="0" marL="0" rtl="0" algn="l">
              <a:spcBef>
                <a:spcPts val="1200"/>
              </a:spcBef>
              <a:spcAft>
                <a:spcPts val="1200"/>
              </a:spcAft>
              <a:buNone/>
            </a:pPr>
            <a:r>
              <a:t/>
            </a:r>
            <a:endParaRPr/>
          </a:p>
        </p:txBody>
      </p:sp>
      <p:pic>
        <p:nvPicPr>
          <p:cNvPr id="102" name="Google Shape;102;p19"/>
          <p:cNvPicPr preferRelativeResize="0"/>
          <p:nvPr/>
        </p:nvPicPr>
        <p:blipFill>
          <a:blip r:embed="rId3">
            <a:alphaModFix/>
          </a:blip>
          <a:stretch>
            <a:fillRect/>
          </a:stretch>
        </p:blipFill>
        <p:spPr>
          <a:xfrm>
            <a:off x="6155598" y="0"/>
            <a:ext cx="2988402"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Runtime - Single-UMD</a:t>
            </a:r>
            <a:endParaRPr/>
          </a:p>
        </p:txBody>
      </p:sp>
      <p:pic>
        <p:nvPicPr>
          <p:cNvPr id="108" name="Google Shape;108;p20"/>
          <p:cNvPicPr preferRelativeResize="0"/>
          <p:nvPr/>
        </p:nvPicPr>
        <p:blipFill>
          <a:blip r:embed="rId3">
            <a:alphaModFix/>
          </a:blip>
          <a:stretch>
            <a:fillRect/>
          </a:stretch>
        </p:blipFill>
        <p:spPr>
          <a:xfrm>
            <a:off x="166688" y="1017713"/>
            <a:ext cx="8810625" cy="3629025"/>
          </a:xfrm>
          <a:prstGeom prst="rect">
            <a:avLst/>
          </a:prstGeom>
          <a:noFill/>
          <a:ln>
            <a:noFill/>
          </a:ln>
        </p:spPr>
      </p:pic>
      <p:sp>
        <p:nvSpPr>
          <p:cNvPr id="109" name="Google Shape;109;p20"/>
          <p:cNvSpPr/>
          <p:nvPr/>
        </p:nvSpPr>
        <p:spPr>
          <a:xfrm>
            <a:off x="1691525" y="3876850"/>
            <a:ext cx="1143000" cy="5727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20"/>
          <p:cNvSpPr/>
          <p:nvPr/>
        </p:nvSpPr>
        <p:spPr>
          <a:xfrm>
            <a:off x="3219225" y="3876850"/>
            <a:ext cx="1143000" cy="5727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p:nvPr/>
        </p:nvSpPr>
        <p:spPr>
          <a:xfrm>
            <a:off x="1691525" y="2929800"/>
            <a:ext cx="1143000" cy="5727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20"/>
          <p:cNvSpPr/>
          <p:nvPr/>
        </p:nvSpPr>
        <p:spPr>
          <a:xfrm>
            <a:off x="4746925" y="3876850"/>
            <a:ext cx="1143000" cy="5727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20"/>
          <p:cNvSpPr/>
          <p:nvPr/>
        </p:nvSpPr>
        <p:spPr>
          <a:xfrm>
            <a:off x="166700" y="2929800"/>
            <a:ext cx="1143000" cy="5727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20"/>
          <p:cNvSpPr txBox="1"/>
          <p:nvPr/>
        </p:nvSpPr>
        <p:spPr>
          <a:xfrm>
            <a:off x="5333325" y="714125"/>
            <a:ext cx="3073500" cy="70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rPr>
              <a:t>Red boxes are where the UMD interacts with the KMD</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Runtime - Multi-UMD</a:t>
            </a:r>
            <a:endParaRPr/>
          </a:p>
        </p:txBody>
      </p:sp>
      <p:pic>
        <p:nvPicPr>
          <p:cNvPr id="120" name="Google Shape;120;p21"/>
          <p:cNvPicPr preferRelativeResize="0"/>
          <p:nvPr/>
        </p:nvPicPr>
        <p:blipFill>
          <a:blip r:embed="rId3">
            <a:alphaModFix/>
          </a:blip>
          <a:stretch>
            <a:fillRect/>
          </a:stretch>
        </p:blipFill>
        <p:spPr>
          <a:xfrm>
            <a:off x="152400" y="1181275"/>
            <a:ext cx="8839201" cy="2780954"/>
          </a:xfrm>
          <a:prstGeom prst="rect">
            <a:avLst/>
          </a:prstGeom>
          <a:noFill/>
          <a:ln>
            <a:noFill/>
          </a:ln>
        </p:spPr>
      </p:pic>
      <p:sp>
        <p:nvSpPr>
          <p:cNvPr id="121" name="Google Shape;121;p21"/>
          <p:cNvSpPr/>
          <p:nvPr/>
        </p:nvSpPr>
        <p:spPr>
          <a:xfrm>
            <a:off x="1320875" y="2643500"/>
            <a:ext cx="878700" cy="4422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 name="Google Shape;122;p21"/>
          <p:cNvSpPr/>
          <p:nvPr/>
        </p:nvSpPr>
        <p:spPr>
          <a:xfrm>
            <a:off x="5996350" y="1916125"/>
            <a:ext cx="878700" cy="4422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 name="Google Shape;123;p21"/>
          <p:cNvSpPr/>
          <p:nvPr/>
        </p:nvSpPr>
        <p:spPr>
          <a:xfrm>
            <a:off x="5996350" y="2643500"/>
            <a:ext cx="878700" cy="4422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 name="Google Shape;124;p21"/>
          <p:cNvSpPr/>
          <p:nvPr/>
        </p:nvSpPr>
        <p:spPr>
          <a:xfrm>
            <a:off x="5996350" y="3370875"/>
            <a:ext cx="878700" cy="4422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 name="Google Shape;125;p21"/>
          <p:cNvSpPr/>
          <p:nvPr/>
        </p:nvSpPr>
        <p:spPr>
          <a:xfrm>
            <a:off x="152400" y="2643500"/>
            <a:ext cx="878700" cy="4422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 name="Google Shape;126;p21"/>
          <p:cNvSpPr txBox="1"/>
          <p:nvPr/>
        </p:nvSpPr>
        <p:spPr>
          <a:xfrm>
            <a:off x="5333325" y="714125"/>
            <a:ext cx="3073500" cy="70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rPr>
              <a:t>Red boxes are where the UMD interacts with the KMD</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Runtime Compilation</a:t>
            </a:r>
            <a:endParaRPr/>
          </a:p>
        </p:txBody>
      </p:sp>
      <p:sp>
        <p:nvSpPr>
          <p:cNvPr id="132" name="Google Shape;13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Most easily done in a docker:</a:t>
            </a:r>
            <a:endParaRPr/>
          </a:p>
          <a:p>
            <a:pPr indent="0" lvl="0" marL="0" rtl="0" algn="l">
              <a:spcBef>
                <a:spcPts val="1200"/>
              </a:spcBef>
              <a:spcAft>
                <a:spcPts val="0"/>
              </a:spcAft>
              <a:buNone/>
            </a:pPr>
            <a:r>
              <a:rPr lang="en-GB" sz="1500">
                <a:latin typeface="Ubuntu Mono"/>
                <a:ea typeface="Ubuntu Mono"/>
                <a:cs typeface="Ubuntu Mono"/>
                <a:sym typeface="Ubuntu Mono"/>
              </a:rPr>
              <a:t>docker run -it -v /home:/home ubuntu:16.04</a:t>
            </a:r>
            <a:br>
              <a:rPr lang="en-GB" sz="1500">
                <a:latin typeface="Ubuntu Mono"/>
                <a:ea typeface="Ubuntu Mono"/>
                <a:cs typeface="Ubuntu Mono"/>
                <a:sym typeface="Ubuntu Mono"/>
              </a:rPr>
            </a:br>
            <a:r>
              <a:rPr lang="en-GB" sz="1500">
                <a:latin typeface="Ubuntu Mono"/>
                <a:ea typeface="Ubuntu Mono"/>
                <a:cs typeface="Ubuntu Mono"/>
                <a:sym typeface="Ubuntu Mono"/>
              </a:rPr>
              <a:t>apt-get update</a:t>
            </a:r>
            <a:br>
              <a:rPr lang="en-GB" sz="1500">
                <a:latin typeface="Ubuntu Mono"/>
                <a:ea typeface="Ubuntu Mono"/>
                <a:cs typeface="Ubuntu Mono"/>
                <a:sym typeface="Ubuntu Mono"/>
              </a:rPr>
            </a:br>
            <a:r>
              <a:rPr lang="en-GB" sz="1500">
                <a:latin typeface="Ubuntu Mono"/>
                <a:ea typeface="Ubuntu Mono"/>
                <a:cs typeface="Ubuntu Mono"/>
                <a:sym typeface="Ubuntu Mono"/>
              </a:rPr>
              <a:t>apt-get install gcc-aarch64-linux-gnu g++-aarch64-linux-gnu make</a:t>
            </a:r>
            <a:endParaRPr sz="1500">
              <a:latin typeface="Ubuntu Mono"/>
              <a:ea typeface="Ubuntu Mono"/>
              <a:cs typeface="Ubuntu Mono"/>
              <a:sym typeface="Ubuntu Mono"/>
            </a:endParaRPr>
          </a:p>
          <a:p>
            <a:pPr indent="-342900" lvl="0" marL="457200" rtl="0" algn="l">
              <a:spcBef>
                <a:spcPts val="1200"/>
              </a:spcBef>
              <a:spcAft>
                <a:spcPts val="0"/>
              </a:spcAft>
              <a:buSzPts val="1800"/>
              <a:buChar char="●"/>
            </a:pPr>
            <a:r>
              <a:rPr lang="en-GB"/>
              <a:t>aarch64 Linux toolchain is important</a:t>
            </a:r>
            <a:endParaRPr/>
          </a:p>
          <a:p>
            <a:pPr indent="-342900" lvl="0" marL="457200" rtl="0" algn="l">
              <a:spcBef>
                <a:spcPts val="0"/>
              </a:spcBef>
              <a:spcAft>
                <a:spcPts val="0"/>
              </a:spcAft>
              <a:buSzPts val="1800"/>
              <a:buChar char="●"/>
            </a:pPr>
            <a:r>
              <a:rPr lang="en-GB"/>
              <a:t>Uses the regular Makefile in the SW repository, only with different files:</a:t>
            </a:r>
            <a:endParaRPr/>
          </a:p>
          <a:p>
            <a:pPr indent="-342900" lvl="0" marL="457200" rtl="0" algn="l">
              <a:spcBef>
                <a:spcPts val="0"/>
              </a:spcBef>
              <a:spcAft>
                <a:spcPts val="0"/>
              </a:spcAft>
              <a:buSzPts val="1800"/>
              <a:buChar char="●"/>
            </a:pPr>
            <a:r>
              <a:rPr lang="en-GB"/>
              <a:t>Within the sw/umd directory, run:</a:t>
            </a:r>
            <a:endParaRPr/>
          </a:p>
          <a:p>
            <a:pPr indent="0" lvl="0" marL="0" rtl="0" algn="l">
              <a:spcBef>
                <a:spcPts val="1200"/>
              </a:spcBef>
              <a:spcAft>
                <a:spcPts val="0"/>
              </a:spcAft>
              <a:buNone/>
            </a:pPr>
            <a:r>
              <a:rPr lang="en-GB" sz="1500">
                <a:latin typeface="Ubuntu Mono"/>
                <a:ea typeface="Ubuntu Mono"/>
                <a:cs typeface="Ubuntu Mono"/>
                <a:sym typeface="Ubuntu Mono"/>
              </a:rPr>
              <a:t>make TOOLCHAIN_PREFIX=aarch64-linux-gnu- ROOT=$(pwd)</a:t>
            </a:r>
            <a:endParaRPr sz="1500">
              <a:latin typeface="Ubuntu Mono"/>
              <a:ea typeface="Ubuntu Mono"/>
              <a:cs typeface="Ubuntu Mono"/>
              <a:sym typeface="Ubuntu Mono"/>
            </a:endParaRPr>
          </a:p>
          <a:p>
            <a:pPr indent="-342900" lvl="0" marL="457200" rtl="0" algn="l">
              <a:spcBef>
                <a:spcPts val="1200"/>
              </a:spcBef>
              <a:spcAft>
                <a:spcPts val="0"/>
              </a:spcAft>
              <a:buSzPts val="1800"/>
              <a:buChar char="●"/>
            </a:pPr>
            <a:r>
              <a:rPr lang="en-GB"/>
              <a:t>A lot more detail is available on my GitHub</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Virtual Platform</a:t>
            </a:r>
            <a:endParaRPr/>
          </a:p>
        </p:txBody>
      </p:sp>
      <p:sp>
        <p:nvSpPr>
          <p:cNvPr id="138" name="Google Shape;138;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GB"/>
              <a:t>Essentially the NVDLA emulator</a:t>
            </a:r>
            <a:endParaRPr/>
          </a:p>
          <a:p>
            <a:pPr indent="-342900" lvl="0" marL="457200" rtl="0" algn="l">
              <a:spcBef>
                <a:spcPts val="0"/>
              </a:spcBef>
              <a:spcAft>
                <a:spcPts val="0"/>
              </a:spcAft>
              <a:buSzPts val="1800"/>
              <a:buChar char="●"/>
            </a:pPr>
            <a:r>
              <a:rPr lang="en-GB"/>
              <a:t>Difficult to compile - use the docker</a:t>
            </a:r>
            <a:endParaRPr/>
          </a:p>
          <a:p>
            <a:pPr indent="-317500" lvl="1" marL="914400" rtl="0" algn="l">
              <a:spcBef>
                <a:spcPts val="0"/>
              </a:spcBef>
              <a:spcAft>
                <a:spcPts val="0"/>
              </a:spcAft>
              <a:buSzPts val="1400"/>
              <a:buChar char="○"/>
            </a:pPr>
            <a:r>
              <a:rPr lang="en-GB"/>
              <a:t>Original NVDLA VP: nvdla/vp</a:t>
            </a:r>
            <a:endParaRPr/>
          </a:p>
          <a:p>
            <a:pPr indent="-317500" lvl="1" marL="914400" rtl="0" algn="l">
              <a:spcBef>
                <a:spcPts val="0"/>
              </a:spcBef>
              <a:spcAft>
                <a:spcPts val="0"/>
              </a:spcAft>
              <a:buSzPts val="1400"/>
              <a:buChar char="○"/>
            </a:pPr>
            <a:r>
              <a:rPr lang="en-GB"/>
              <a:t>ONNC NVDLA VP: onnc/vp</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GB"/>
              <a:t>Login:</a:t>
            </a:r>
            <a:endParaRPr/>
          </a:p>
          <a:p>
            <a:pPr indent="-317500" lvl="1" marL="914400" rtl="0" algn="l">
              <a:spcBef>
                <a:spcPts val="0"/>
              </a:spcBef>
              <a:spcAft>
                <a:spcPts val="0"/>
              </a:spcAft>
              <a:buSzPts val="1400"/>
              <a:buChar char="○"/>
            </a:pPr>
            <a:r>
              <a:rPr lang="en-GB"/>
              <a:t>Username: root</a:t>
            </a:r>
            <a:endParaRPr/>
          </a:p>
          <a:p>
            <a:pPr indent="-317500" lvl="1" marL="914400" rtl="0" algn="l">
              <a:spcBef>
                <a:spcPts val="0"/>
              </a:spcBef>
              <a:spcAft>
                <a:spcPts val="0"/>
              </a:spcAft>
              <a:buSzPts val="1400"/>
              <a:buChar char="○"/>
            </a:pPr>
            <a:r>
              <a:rPr lang="en-GB"/>
              <a:t>Password: nvdla</a:t>
            </a:r>
            <a:endParaRPr/>
          </a:p>
          <a:p>
            <a:pPr indent="-342900" lvl="0" marL="457200" rtl="0" algn="l">
              <a:spcBef>
                <a:spcPts val="0"/>
              </a:spcBef>
              <a:spcAft>
                <a:spcPts val="0"/>
              </a:spcAft>
              <a:buSzPts val="1800"/>
              <a:buChar char="●"/>
            </a:pPr>
            <a:r>
              <a:rPr lang="en-GB"/>
              <a:t>Mount the drive: </a:t>
            </a:r>
            <a:r>
              <a:rPr lang="en-GB">
                <a:latin typeface="Ubuntu Mono"/>
                <a:ea typeface="Ubuntu Mono"/>
                <a:cs typeface="Ubuntu Mono"/>
                <a:sym typeface="Ubuntu Mono"/>
              </a:rPr>
              <a:t>mount -t 9p -o trans=virtio r /mnt</a:t>
            </a:r>
            <a:endParaRPr/>
          </a:p>
          <a:p>
            <a:pPr indent="-342900" lvl="0" marL="457200" rtl="0" algn="l">
              <a:spcBef>
                <a:spcPts val="0"/>
              </a:spcBef>
              <a:spcAft>
                <a:spcPts val="0"/>
              </a:spcAft>
              <a:buSzPts val="1800"/>
              <a:buChar char="●"/>
            </a:pPr>
            <a:r>
              <a:rPr lang="en-GB"/>
              <a:t>Initialise the environment: </a:t>
            </a:r>
            <a:r>
              <a:rPr lang="en-GB">
                <a:latin typeface="Ubuntu Mono"/>
                <a:ea typeface="Ubuntu Mono"/>
                <a:cs typeface="Ubuntu Mono"/>
                <a:sym typeface="Ubuntu Mono"/>
              </a:rPr>
              <a:t>./init_dla.sh</a:t>
            </a:r>
            <a:endParaRPr>
              <a:latin typeface="Ubuntu Mono"/>
              <a:ea typeface="Ubuntu Mono"/>
              <a:cs typeface="Ubuntu Mono"/>
              <a:sym typeface="Ubuntu Mono"/>
            </a:endParaRPr>
          </a:p>
          <a:p>
            <a:pPr indent="0" lvl="0" marL="0" rtl="0" algn="l">
              <a:spcBef>
                <a:spcPts val="1200"/>
              </a:spcBef>
              <a:spcAft>
                <a:spcPts val="1200"/>
              </a:spcAft>
              <a:buNone/>
            </a:pPr>
            <a:r>
              <a:t/>
            </a:r>
            <a:endParaRPr/>
          </a:p>
        </p:txBody>
      </p:sp>
      <p:pic>
        <p:nvPicPr>
          <p:cNvPr id="139" name="Google Shape;139;p23"/>
          <p:cNvPicPr preferRelativeResize="0"/>
          <p:nvPr/>
        </p:nvPicPr>
        <p:blipFill>
          <a:blip r:embed="rId3">
            <a:alphaModFix/>
          </a:blip>
          <a:stretch>
            <a:fillRect/>
          </a:stretch>
        </p:blipFill>
        <p:spPr>
          <a:xfrm>
            <a:off x="436725" y="2186450"/>
            <a:ext cx="6299700" cy="572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Executing Runtime</a:t>
            </a:r>
            <a:endParaRPr/>
          </a:p>
        </p:txBody>
      </p:sp>
      <p:sp>
        <p:nvSpPr>
          <p:cNvPr id="145" name="Google Shape;145;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Generates a dimg file: output.dimg</a:t>
            </a:r>
            <a:endParaRPr/>
          </a:p>
          <a:p>
            <a:pPr indent="-342900" lvl="0" marL="457200" rtl="0" algn="l">
              <a:spcBef>
                <a:spcPts val="0"/>
              </a:spcBef>
              <a:spcAft>
                <a:spcPts val="0"/>
              </a:spcAft>
              <a:buSzPts val="1800"/>
              <a:buChar char="●"/>
            </a:pPr>
            <a:r>
              <a:rPr lang="en-GB"/>
              <a:t>rawdump argument makes this human readable</a:t>
            </a:r>
            <a:endParaRPr/>
          </a:p>
          <a:p>
            <a:pPr indent="-342900" lvl="0" marL="457200" rtl="0" algn="l">
              <a:spcBef>
                <a:spcPts val="0"/>
              </a:spcBef>
              <a:spcAft>
                <a:spcPts val="0"/>
              </a:spcAft>
              <a:buSzPts val="1800"/>
              <a:buChar char="●"/>
            </a:pPr>
            <a:r>
              <a:rPr lang="en-GB"/>
              <a:t>Execution takes a long time, but will get to a result</a:t>
            </a:r>
            <a:endParaRPr/>
          </a:p>
          <a:p>
            <a:pPr indent="-342900" lvl="0" marL="457200" rtl="0" algn="l">
              <a:spcBef>
                <a:spcPts val="0"/>
              </a:spcBef>
              <a:spcAft>
                <a:spcPts val="0"/>
              </a:spcAft>
              <a:buSzPts val="1800"/>
              <a:buChar char="●"/>
            </a:pPr>
            <a:r>
              <a:rPr lang="en-GB"/>
              <a:t>Normalisation not mandatory, but needed if the network was trained on normalised images</a:t>
            </a:r>
            <a:endParaRPr/>
          </a:p>
          <a:p>
            <a:pPr indent="-342900" lvl="0" marL="457200" rtl="0" algn="l">
              <a:spcBef>
                <a:spcPts val="0"/>
              </a:spcBef>
              <a:spcAft>
                <a:spcPts val="0"/>
              </a:spcAft>
              <a:buSzPts val="1800"/>
              <a:buChar char="●"/>
            </a:pPr>
            <a:r>
              <a:rPr lang="en-GB"/>
              <a:t>Number of loadables must </a:t>
            </a:r>
            <a:r>
              <a:rPr lang="en-GB"/>
              <a:t>match</a:t>
            </a:r>
            <a:r>
              <a:rPr lang="en-GB"/>
              <a:t> the number of parts</a:t>
            </a:r>
            <a:endParaRPr/>
          </a:p>
          <a:p>
            <a:pPr indent="0" lvl="0" marL="0" rtl="0" algn="l">
              <a:spcBef>
                <a:spcPts val="1200"/>
              </a:spcBef>
              <a:spcAft>
                <a:spcPts val="1200"/>
              </a:spcAft>
              <a:buNone/>
            </a:pPr>
            <a:r>
              <a:t/>
            </a:r>
            <a:endParaRPr/>
          </a:p>
        </p:txBody>
      </p:sp>
      <p:pic>
        <p:nvPicPr>
          <p:cNvPr id="146" name="Google Shape;146;p24"/>
          <p:cNvPicPr preferRelativeResize="0"/>
          <p:nvPr/>
        </p:nvPicPr>
        <p:blipFill>
          <a:blip r:embed="rId3">
            <a:alphaModFix/>
          </a:blip>
          <a:stretch>
            <a:fillRect/>
          </a:stretch>
        </p:blipFill>
        <p:spPr>
          <a:xfrm>
            <a:off x="311688" y="3902125"/>
            <a:ext cx="4810125" cy="6667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Thank You For Listening</a:t>
            </a:r>
            <a:endParaRPr/>
          </a:p>
        </p:txBody>
      </p:sp>
      <p:sp>
        <p:nvSpPr>
          <p:cNvPr id="152" name="Google Shape;152;p2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https://github.com/TroubledBagels/NVDLA_SlimNNs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